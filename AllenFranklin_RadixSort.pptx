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Radix Sort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n=10</c:v>
                  </c:pt>
                  <c:pt idx="1">
                    <c:v>n=20</c:v>
                  </c:pt>
                  <c:pt idx="2">
                    <c:v>n=22</c:v>
                  </c:pt>
                  <c:pt idx="3">
                    <c:v>n=30</c:v>
                  </c:pt>
                  <c:pt idx="4">
                    <c:v>n=50</c:v>
                  </c:pt>
                  <c:pt idx="5">
                    <c:v>n=100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60</c:v>
                </c:pt>
                <c:pt idx="1">
                  <c:v>90</c:v>
                </c:pt>
                <c:pt idx="2">
                  <c:v>96</c:v>
                </c:pt>
                <c:pt idx="3">
                  <c:v>120</c:v>
                </c:pt>
                <c:pt idx="4">
                  <c:v>180</c:v>
                </c:pt>
                <c:pt idx="5">
                  <c:v>330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Comparison Sort</c:v>
                </c:pt>
              </c:strCache>
            </c:strRef>
          </c:tx>
          <c:spPr>
            <a:solidFill>
              <a:srgbClr val="9CB0D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n=10</c:v>
                  </c:pt>
                  <c:pt idx="1">
                    <c:v>n=20</c:v>
                  </c:pt>
                  <c:pt idx="2">
                    <c:v>n=22</c:v>
                  </c:pt>
                  <c:pt idx="3">
                    <c:v>n=30</c:v>
                  </c:pt>
                  <c:pt idx="4">
                    <c:v>n=50</c:v>
                  </c:pt>
                  <c:pt idx="5">
                    <c:v>n=100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33.2</c:v>
                </c:pt>
                <c:pt idx="1">
                  <c:v>86.4</c:v>
                </c:pt>
                <c:pt idx="2">
                  <c:v>98.1</c:v>
                </c:pt>
                <c:pt idx="3">
                  <c:v>147.3</c:v>
                </c:pt>
                <c:pt idx="4">
                  <c:v>282.2</c:v>
                </c:pt>
                <c:pt idx="5">
                  <c:v>664.4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AF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A6B9C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A6B9C"/>
                    </a:solidFill>
                    <a:latin typeface="Arial"/>
                  </a:rPr>
                  <a:t>Estimated Units of Work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E2761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486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CMPS 511B  •  DATA STRUCTURES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10312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Radix Sort for Large-Scale Data Preprocessing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4290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Correctness and Complexity Analysis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4160520"/>
            <a:ext cx="1097280" cy="36576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4434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Allen Trevor Franklin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800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 •  Southern University and A&amp;M College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0292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5A6B9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BACKGROUND &amp; SIGNIFICANCE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0" y="86868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Sorting Speed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Background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Sorting sits underneath almost every data analytics pipeline before any real analysis happens. It's one of the most used operations in computing.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61188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Comparison-based sorts like quicksort and mergesort are the default choice, but they carry a hard performance floor that radix sort can avoid entirely.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52120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9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(more on that floor next)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78308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20116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Significance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0" y="256032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cost of picking the wrong sort adds up as datasets grow. This isn't just academic, it shows up as real compute time and cost.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0" y="3657600"/>
            <a:ext cx="4846320" cy="18288"/>
          </a:xfrm>
          <a:prstGeom prst="rect">
            <a:avLst/>
          </a:prstGeom>
          <a:solidFill>
            <a:srgbClr val="3D4A8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384048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Sorting a million 3-digit-keyed records with radix sort takes roughly a third of the work a comparison sort needs.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0" y="50292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When that job runs daily instead of once, the savings compound.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0292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5A6B9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0" y="86868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Comparison Sort Floor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O(n log n)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proven lower bound for any sort that works by comparing elements against each other.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61188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it exists: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sorting n elements means telling n! possible orderings apart, which takes at least log₂(n!) comparisons, and no algorithm can beat that.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51206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9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Quicksort  •  Mergesort  •  Heapsort, all bound by this floor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178308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20116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Radix sort avoids it entirely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0" y="256032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never compares elements. Instead it sorts digit by digit, least significant to most significant, using a stable supporting sort at every pass.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36576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O(d(n + k))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00800" y="4251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 = digit passes    n = elements    k = digit range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0" y="4800600"/>
            <a:ext cx="4846320" cy="18288"/>
          </a:xfrm>
          <a:prstGeom prst="rect">
            <a:avLst/>
          </a:prstGeom>
          <a:solidFill>
            <a:srgbClr val="3D4A8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498348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Hypothesis: radix sort wins when d and k stay small relative to n, but not always.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0292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5A6B9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DELIMITATIONS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0" y="86868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Domain &amp;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7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Scope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4663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LSD radix sort applied to fixed-length, non-negative integer keys, using counting sort as the stable supporting sort. This is the exact version the correctness proof and complexity derivation are built around.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4572000"/>
            <a:ext cx="4663440" cy="18288"/>
          </a:xfrm>
          <a:prstGeom prst="rect">
            <a:avLst/>
          </a:prstGeom>
          <a:solidFill>
            <a:srgbClr val="E5EAF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75488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5A6B9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worked example in this paper ties back to this exact domain.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1783080"/>
            <a:ext cx="5394960" cy="4251960"/>
          </a:xfrm>
          <a:prstGeom prst="roundRect">
            <a:avLst>
              <a:gd name="adj" fmla="val 2581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2011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87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 of Scope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0" y="2651760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251460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DCE4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MSD radix sort, processes digits in the opposite order and needs its own termination argument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0" y="3703320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356616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DCE4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String-based keys, characters don't share the same fixed numeric range as digits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0" y="4754880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0" y="461772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DCE4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Floating-point adaptations and GPU/parallel implementations, both left for future work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0292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5A6B9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REVIEW OF LITERATURE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0" y="86868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Primary &amp; Secondary Sources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B7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PRIMARY SOURCE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21208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3317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7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Cormen et al. (CLRS)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9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 to Algorithms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foundational textbook that established the standard method for proving sorting algorithms correct through induction on a loop invariant. This paper's own correctness proof follows that same method directly.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5029200"/>
            <a:ext cx="4663440" cy="18288"/>
          </a:xfrm>
          <a:prstGeom prst="rect">
            <a:avLst/>
          </a:prstGeom>
          <a:solidFill>
            <a:srgbClr val="E5EAF5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521208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1B7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Nearly every other proof-based source discussed here builds on this same method.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355080" y="16916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5A6B9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SECONDARY SOURCES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55080" y="2103120"/>
            <a:ext cx="52120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0" y="217627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Neapolitan, Foundations of Algorithms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0" y="24688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Same loop-invariant pattern, applied more broadly to algorithm correctness.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55080" y="2926080"/>
            <a:ext cx="52120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0" y="29992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Rot, Formal Verification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32918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Applies that pattern to radix sort specifically, correctness depends on stability.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55080" y="3749040"/>
            <a:ext cx="52120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83680" y="382219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Base-n Radix Sort Performance Analysis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0" y="4114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Radix base and key width are real, tunable performance factors.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55080" y="4572000"/>
            <a:ext cx="52120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83680" y="464515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Ha, Krüger &amp; Silva, GPU-Parallel Radix Sort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0" y="49377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Extends the same structure to parallel hardware, roughly 2x faster.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55080" y="5394960"/>
            <a:ext cx="52120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83680" y="546811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Meegle, Applied Use Cases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83680" y="57607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Summarizes real-world uses like IP address and database ID sorting.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0292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5A6B9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METHODOLOGY: CORRECTNESS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0" y="86868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Correctness Proof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105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Loop Invariant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 the start of the i-th digit pass, array A is already sorted with respect to its last (i − 1) digits.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306324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80160" y="3090672"/>
            <a:ext cx="2862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Initialize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35021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Before any pass, i = 0. The array is automatically sorted on 0 digits.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25112" y="306324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4325112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965192" y="3090672"/>
            <a:ext cx="2862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Maintain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25112" y="3611880"/>
            <a:ext cx="35021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Each pass uses a stable sort. Equal digits keep their prior valid order, nothing gets scrambled.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10144" y="306324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8010144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650224" y="3090672"/>
            <a:ext cx="2862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Terminate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010144" y="3611880"/>
            <a:ext cx="35021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After d passes, the array is sorted on all d digits, fully sorted.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507492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6DE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25780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single point of failure: 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if the supporting sort at any digit pass isn't stable, equal-digit elements can get scrambled and the whole proof breaks.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0292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5A6B9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METHODOLOGY: COMPLEXITY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0" y="86868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Complexity Breakdown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89280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0" y="18928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9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Tally how many elements fall into each digit value, O(n)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27614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Accumulate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00400" y="276148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9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Turn counts into running totals across k digit values, O(k)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6118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611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36301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00400" y="36301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9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Drop each element into its correct position, O(n)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457200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i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 digit pass: O(n) + O(k) + O(n) = O(n + k).  With d passes total →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0" y="1783080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21031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T(n) = O(d(n + k))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6675120" y="2788920"/>
            <a:ext cx="4572000" cy="18288"/>
          </a:xfrm>
          <a:prstGeom prst="rect">
            <a:avLst/>
          </a:prstGeom>
          <a:solidFill>
            <a:srgbClr val="3D4A8A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2971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vs. the comparison sort floor: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75120" y="32918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O(n log n)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675120" y="38862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7D2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comes from log₂(n!) via Stirling's approximation, the minimum comparisons needed to tell all n! orderings apart.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675120" y="4892040"/>
            <a:ext cx="4572000" cy="18288"/>
          </a:xfrm>
          <a:prstGeom prst="rect">
            <a:avLst/>
          </a:prstGeom>
          <a:solidFill>
            <a:srgbClr val="3D4A8A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507492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When d is fixed and small, T(n) just becomes O(n), linear time.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0292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5A6B9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WORKED EXAMPLES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0" y="86868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Conditional Advantage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659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7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Short, fixed-length keys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[329, 457, 657, 839, 436, 720, 355]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9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 = 3 digits → 3 passes total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15468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 1 (ones):    [720, 355, 436, 457, 657, 329, 839]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 2 (tens):    [720, 329, 436, 839, 355, 457, 657]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 3 (hundreds): [329, 355, 436, 457, 657, 720, 839]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14400" y="4297680"/>
            <a:ext cx="4663440" cy="18288"/>
          </a:xfrm>
          <a:prstGeom prst="rect">
            <a:avLst/>
          </a:prstGeom>
          <a:solidFill>
            <a:srgbClr val="E5EAF5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4805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7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Fully sorted after 3 passes, matching the correctness proof exactly.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5166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7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RESULT: radix sort wins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783080"/>
            <a:ext cx="5394960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1965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42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Long keys, small array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0" y="23774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[482913, 107556, 934201, 265478, 719340]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0" y="27432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9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 = 6 digits, only n = 5 elements → 6 full passes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32004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Radix sort: 5 × 6 ≈ 30 units of work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Comparison sort: 5 log₂(5) ≈ 12 units of work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0" y="4297680"/>
            <a:ext cx="4846320" cy="18288"/>
          </a:xfrm>
          <a:prstGeom prst="rect">
            <a:avLst/>
          </a:prstGeom>
          <a:solidFill>
            <a:srgbClr val="E5EAF5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44805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042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Radix sort's total work is driven by digit count, not array size, so long keys erase its edge.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0" y="5166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42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RESULT: comparison sort wins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0292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5A6B9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0" y="86868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Crossover Point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B9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Fixed case: 3-digit keys (d = 3, k = 10). Radix sort work = 3(n+10). Comparison sort work = n log₂(n).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011680"/>
          <a:ext cx="75895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412480" y="2011680"/>
            <a:ext cx="3108960" cy="4206240"/>
          </a:xfrm>
          <a:prstGeom prst="roundRect">
            <a:avLst>
              <a:gd name="adj" fmla="val 3529"/>
            </a:avLst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8641080" y="22860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 ≈ 22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8641080" y="29260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 where radix sort takes the lead for this d and k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641080" y="3611880"/>
            <a:ext cx="2651760" cy="18288"/>
          </a:xfrm>
          <a:prstGeom prst="rect">
            <a:avLst/>
          </a:prstGeom>
          <a:solidFill>
            <a:srgbClr val="3D4A8A"/>
          </a:solidFill>
          <a:ln/>
        </p:spPr>
      </p:sp>
      <p:sp>
        <p:nvSpPr>
          <p:cNvPr id="10" name="Text 7"/>
          <p:cNvSpPr/>
          <p:nvPr/>
        </p:nvSpPr>
        <p:spPr>
          <a:xfrm>
            <a:off x="8641080" y="379476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 n = 1000, radix sort does roughly a third of the total work a comparison sort needs.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41080" y="52120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gap only widens from there.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0292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5A6B9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EDGE CASES IN PRACTICE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0" y="86868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Handling Real-World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02152" cy="4297680"/>
          </a:xfrm>
          <a:prstGeom prst="roundRect">
            <a:avLst>
              <a:gd name="adj" fmla="val 31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4884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±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2788920"/>
            <a:ext cx="3044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Negative Numbers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337560"/>
            <a:ext cx="304495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Offset every value by a fixed amount, shifting the whole array into non-negative territory, then shift back after sorting.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4800600"/>
            <a:ext cx="3044952" cy="18288"/>
          </a:xfrm>
          <a:prstGeom prst="rect">
            <a:avLst/>
          </a:prstGeom>
          <a:solidFill>
            <a:srgbClr val="E5EAF5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983480"/>
            <a:ext cx="3044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A6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[-42, 17, -8] → shift +42 → sort → shift back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25112" y="1828800"/>
            <a:ext cx="3502152" cy="4297680"/>
          </a:xfrm>
          <a:prstGeom prst="roundRect">
            <a:avLst>
              <a:gd name="adj" fmla="val 31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99432" y="214884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4599432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=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53712" y="2788920"/>
            <a:ext cx="3044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Duplicate Keys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53712" y="3337560"/>
            <a:ext cx="304495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Already covered by the correctness proof. Stability guarantees equal elements keep their original relative order.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53712" y="4800600"/>
            <a:ext cx="3044952" cy="18288"/>
          </a:xfrm>
          <a:prstGeom prst="rect">
            <a:avLst/>
          </a:prstGeom>
          <a:solidFill>
            <a:srgbClr val="E5EAF5"/>
          </a:solidFill>
          <a:ln/>
        </p:spPr>
      </p:sp>
      <p:sp>
        <p:nvSpPr>
          <p:cNvPr id="17" name="Text 15"/>
          <p:cNvSpPr/>
          <p:nvPr/>
        </p:nvSpPr>
        <p:spPr>
          <a:xfrm>
            <a:off x="4553712" y="4983480"/>
            <a:ext cx="3044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A6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[23ₐ, 45, 23ᵇ] → 23ₐ still comes before 23ᵇ after sorting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10144" y="1828800"/>
            <a:ext cx="3502152" cy="4297680"/>
          </a:xfrm>
          <a:prstGeom prst="roundRect">
            <a:avLst>
              <a:gd name="adj" fmla="val 31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84464" y="214884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0" name="Text 18"/>
          <p:cNvSpPr/>
          <p:nvPr/>
        </p:nvSpPr>
        <p:spPr>
          <a:xfrm>
            <a:off x="8284464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#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238744" y="2788920"/>
            <a:ext cx="3044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Variable-Length Keys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38744" y="3337560"/>
            <a:ext cx="304495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Pad shorter keys with leading zeros so every key appears the same length before sorting.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238744" y="4800600"/>
            <a:ext cx="3044952" cy="18288"/>
          </a:xfrm>
          <a:prstGeom prst="rect">
            <a:avLst/>
          </a:prstGeom>
          <a:solidFill>
            <a:srgbClr val="E5EAF5"/>
          </a:solidFill>
          <a:ln/>
        </p:spPr>
      </p:sp>
      <p:sp>
        <p:nvSpPr>
          <p:cNvPr id="24" name="Text 22"/>
          <p:cNvSpPr/>
          <p:nvPr/>
        </p:nvSpPr>
        <p:spPr>
          <a:xfrm>
            <a:off x="8238744" y="4983480"/>
            <a:ext cx="3044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A6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is set by the widest key, not the average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486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0" y="96012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Decision Rule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27306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116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Check the key length and range against the size of the dataset. If it fits the profile proven here, small d and k relative to n, radix sort is a justified, provable choice instead of a guess.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CB0D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Scope: LSD radix sort on fixed-length, non-negative integer keys. MSD, string-based, floating-point, and parallel variants are left for future work.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3977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4389120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425196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DCE4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MSD radix sort needs its own correctness proof, opposite digit order, different termination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5029200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8920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DCE4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String-based keys require redefining what a “digit” even means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5669280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55321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DCE4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GPU-parallel implementations raise the same stability question across processors instead of passes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6217920"/>
            <a:ext cx="10881360" cy="18288"/>
          </a:xfrm>
          <a:prstGeom prst="rect">
            <a:avLst/>
          </a:prstGeom>
          <a:solidFill>
            <a:srgbClr val="3D4A8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Allen Trevor Franklin  •  CMPS 511B  •  Southern University and A&amp;M College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2026-07-16T23:28:08Z</dcterms:created>
  <dcterms:modified xsi:type="dcterms:W3CDTF">2026-07-16T23:28:08Z</dcterms:modified>
</cp:coreProperties>
</file>