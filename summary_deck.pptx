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7863840" cy="1188720"/>
          </a:xfrm>
          <a:prstGeom prst="rect">
            <a:avLst/>
          </a:prstGeom>
          <a:noFill/>
          <a:ln/>
        </p:spPr>
        <p:txBody>
          <a:bodyPr wrap="square" lIns="0" tIns="0" rIns="0" bIns="0" rtlCol="0" anchor="ctr"/>
          <a:lstStyle/>
          <a:p>
            <a:pPr indent="0" marL="0">
              <a:lnSpc>
                <a:spcPct val="105000"/>
              </a:lnSpc>
              <a:buNone/>
            </a:pPr>
            <a:r>
              <a:rPr lang="en-US" sz="2600" b="1" dirty="0">
                <a:solidFill>
                  <a:srgbClr val="0B2B2A"/>
                </a:solidFill>
                <a:latin typeface="Cambria" pitchFamily="34" charset="0"/>
                <a:ea typeface="Cambria" pitchFamily="34" charset="-122"/>
                <a:cs typeface="Cambria" pitchFamily="34" charset="-120"/>
              </a:rPr>
              <a:t>Explainable AI-Powered EV Charging Churn</a:t>
            </a:r>
            <a:endParaRPr lang="en-US" sz="2600" dirty="0"/>
          </a:p>
          <a:p>
            <a:pPr indent="0" marL="0">
              <a:lnSpc>
                <a:spcPct val="105000"/>
              </a:lnSpc>
              <a:buNone/>
            </a:pPr>
            <a:r>
              <a:rPr lang="en-US" sz="2600" b="1" dirty="0">
                <a:solidFill>
                  <a:srgbClr val="0B2B2A"/>
                </a:solidFill>
                <a:latin typeface="Cambria" pitchFamily="34" charset="0"/>
                <a:ea typeface="Cambria" pitchFamily="34" charset="-122"/>
                <a:cs typeface="Cambria" pitchFamily="34" charset="-120"/>
              </a:rPr>
              <a:t>Analytics Dashboard with Generative AI Insights</a:t>
            </a:r>
            <a:endParaRPr lang="en-US" sz="2600" dirty="0"/>
          </a:p>
        </p:txBody>
      </p:sp>
      <p:sp>
        <p:nvSpPr>
          <p:cNvPr id="3" name="Text 1"/>
          <p:cNvSpPr/>
          <p:nvPr/>
        </p:nvSpPr>
        <p:spPr>
          <a:xfrm>
            <a:off x="548640" y="1600200"/>
            <a:ext cx="7315200" cy="365760"/>
          </a:xfrm>
          <a:prstGeom prst="rect">
            <a:avLst/>
          </a:prstGeom>
          <a:noFill/>
          <a:ln/>
        </p:spPr>
        <p:txBody>
          <a:bodyPr wrap="square" lIns="0" tIns="0" rIns="0" bIns="0" rtlCol="0" anchor="ctr"/>
          <a:lstStyle/>
          <a:p>
            <a:pPr indent="0" marL="0">
              <a:buNone/>
            </a:pPr>
            <a:r>
              <a:rPr lang="en-US" sz="1300" i="1" dirty="0">
                <a:solidFill>
                  <a:srgbClr val="5B7D7B"/>
                </a:solidFill>
                <a:latin typeface="Calibri" pitchFamily="34" charset="0"/>
                <a:ea typeface="Calibri" pitchFamily="34" charset="-122"/>
                <a:cs typeface="Calibri" pitchFamily="34" charset="-120"/>
              </a:rPr>
              <a:t>CMPS 592B  |  Allen Trevor Franklin</a:t>
            </a:r>
            <a:endParaRPr lang="en-US" sz="1300" dirty="0"/>
          </a:p>
        </p:txBody>
      </p:sp>
      <p:sp>
        <p:nvSpPr>
          <p:cNvPr id="4" name="Shape 2"/>
          <p:cNvSpPr/>
          <p:nvPr/>
        </p:nvSpPr>
        <p:spPr>
          <a:xfrm>
            <a:off x="548640" y="2194560"/>
            <a:ext cx="7863840" cy="1828800"/>
          </a:xfrm>
          <a:prstGeom prst="roundRect">
            <a:avLst>
              <a:gd name="adj" fmla="val 5000"/>
            </a:avLst>
          </a:prstGeom>
          <a:solidFill>
            <a:srgbClr val="F0F9F8"/>
          </a:solidFill>
          <a:ln/>
          <a:effectLst>
            <a:outerShdw sx="100000" sy="100000" kx="0" ky="0" algn="bl" rotWithShape="0" blurRad="101600" dist="25400" dir="5400000">
              <a:srgbClr val="000000">
                <a:alpha val="8000"/>
              </a:srgbClr>
            </a:outerShdw>
          </a:effectLst>
        </p:spPr>
      </p:sp>
      <p:sp>
        <p:nvSpPr>
          <p:cNvPr id="5" name="Text 3"/>
          <p:cNvSpPr/>
          <p:nvPr/>
        </p:nvSpPr>
        <p:spPr>
          <a:xfrm>
            <a:off x="822960" y="2377440"/>
            <a:ext cx="7315200" cy="320040"/>
          </a:xfrm>
          <a:prstGeom prst="rect">
            <a:avLst/>
          </a:prstGeom>
          <a:noFill/>
          <a:ln/>
        </p:spPr>
        <p:txBody>
          <a:bodyPr wrap="square" lIns="0" tIns="0" rIns="0" bIns="0" rtlCol="0" anchor="ctr"/>
          <a:lstStyle/>
          <a:p>
            <a:pPr indent="0" marL="0">
              <a:buNone/>
            </a:pPr>
            <a:r>
              <a:rPr lang="en-US" sz="1400" b="1" dirty="0">
                <a:solidFill>
                  <a:srgbClr val="015958"/>
                </a:solidFill>
                <a:latin typeface="Calibri" pitchFamily="34" charset="0"/>
                <a:ea typeface="Calibri" pitchFamily="34" charset="-122"/>
                <a:cs typeface="Calibri" pitchFamily="34" charset="-120"/>
              </a:rPr>
              <a:t>The Pivot</a:t>
            </a:r>
            <a:endParaRPr lang="en-US" sz="1400" dirty="0"/>
          </a:p>
        </p:txBody>
      </p:sp>
      <p:sp>
        <p:nvSpPr>
          <p:cNvPr id="6" name="Text 4"/>
          <p:cNvSpPr/>
          <p:nvPr/>
        </p:nvSpPr>
        <p:spPr>
          <a:xfrm>
            <a:off x="822960" y="2743200"/>
            <a:ext cx="7315200" cy="1188720"/>
          </a:xfrm>
          <a:prstGeom prst="rect">
            <a:avLst/>
          </a:prstGeom>
          <a:noFill/>
          <a:ln/>
        </p:spPr>
        <p:txBody>
          <a:bodyPr wrap="square" lIns="0" tIns="0" rIns="0" bIns="0" rtlCol="0" anchor="t"/>
          <a:lstStyle/>
          <a:p>
            <a:pPr indent="0" marL="0">
              <a:buNone/>
            </a:pPr>
            <a:r>
              <a:rPr lang="en-US" sz="1250" dirty="0">
                <a:solidFill>
                  <a:srgbClr val="0B2B2A"/>
                </a:solidFill>
                <a:latin typeface="Calibri" pitchFamily="34" charset="0"/>
                <a:ea typeface="Calibri" pitchFamily="34" charset="-122"/>
                <a:cs typeface="Calibri" pitchFamily="34" charset="-120"/>
              </a:rPr>
              <a:t>A synthetic EV dataset from Kaggle was tested first. ANOVA and chi-square tests showed no statistically significant relationship between any feature and any potential target, confirming the data was randomized. The project pivoted to a peer-reviewed real-world dataset (Baek, Lee &amp; Kim, Scientific Data, 2024) with genuine behavioral signal.</a:t>
            </a:r>
            <a:endParaRPr lang="en-US" sz="1250" dirty="0"/>
          </a:p>
        </p:txBody>
      </p:sp>
      <p:sp>
        <p:nvSpPr>
          <p:cNvPr id="7" name="Text 5"/>
          <p:cNvSpPr/>
          <p:nvPr/>
        </p:nvSpPr>
        <p:spPr>
          <a:xfrm>
            <a:off x="548640" y="4297680"/>
            <a:ext cx="1737360" cy="502920"/>
          </a:xfrm>
          <a:prstGeom prst="rect">
            <a:avLst/>
          </a:prstGeom>
          <a:noFill/>
          <a:ln/>
        </p:spPr>
        <p:txBody>
          <a:bodyPr wrap="square" lIns="0" tIns="0" rIns="0" bIns="0" rtlCol="0" anchor="ctr"/>
          <a:lstStyle/>
          <a:p>
            <a:pPr indent="0" marL="0">
              <a:buNone/>
            </a:pPr>
            <a:r>
              <a:rPr lang="en-US" sz="2600" b="1" dirty="0">
                <a:solidFill>
                  <a:srgbClr val="028090"/>
                </a:solidFill>
                <a:latin typeface="Cambria" pitchFamily="34" charset="0"/>
                <a:ea typeface="Cambria" pitchFamily="34" charset="-122"/>
                <a:cs typeface="Cambria" pitchFamily="34" charset="-120"/>
              </a:rPr>
              <a:t>2,336</a:t>
            </a:r>
            <a:endParaRPr lang="en-US" sz="2600" dirty="0"/>
          </a:p>
        </p:txBody>
      </p:sp>
      <p:sp>
        <p:nvSpPr>
          <p:cNvPr id="8" name="Text 6"/>
          <p:cNvSpPr/>
          <p:nvPr/>
        </p:nvSpPr>
        <p:spPr>
          <a:xfrm>
            <a:off x="548640" y="4800600"/>
            <a:ext cx="1737360" cy="365760"/>
          </a:xfrm>
          <a:prstGeom prst="rect">
            <a:avLst/>
          </a:prstGeom>
          <a:noFill/>
          <a:ln/>
        </p:spPr>
        <p:txBody>
          <a:bodyPr wrap="square" lIns="0" tIns="0" rIns="0" bIns="0" rtlCol="0" anchor="ctr"/>
          <a:lstStyle/>
          <a:p>
            <a:pPr indent="0" marL="0">
              <a:buNone/>
            </a:pPr>
            <a:r>
              <a:rPr lang="en-US" sz="1100" dirty="0">
                <a:solidFill>
                  <a:srgbClr val="5B7D7B"/>
                </a:solidFill>
                <a:latin typeface="Calibri" pitchFamily="34" charset="0"/>
                <a:ea typeface="Calibri" pitchFamily="34" charset="-122"/>
                <a:cs typeface="Calibri" pitchFamily="34" charset="-120"/>
              </a:rPr>
              <a:t>subscribed EV users</a:t>
            </a:r>
            <a:endParaRPr lang="en-US" sz="1100" dirty="0"/>
          </a:p>
        </p:txBody>
      </p:sp>
      <p:sp>
        <p:nvSpPr>
          <p:cNvPr id="9" name="Text 7"/>
          <p:cNvSpPr/>
          <p:nvPr/>
        </p:nvSpPr>
        <p:spPr>
          <a:xfrm>
            <a:off x="2560320" y="4297680"/>
            <a:ext cx="1737360" cy="502920"/>
          </a:xfrm>
          <a:prstGeom prst="rect">
            <a:avLst/>
          </a:prstGeom>
          <a:noFill/>
          <a:ln/>
        </p:spPr>
        <p:txBody>
          <a:bodyPr wrap="square" lIns="0" tIns="0" rIns="0" bIns="0" rtlCol="0" anchor="ctr"/>
          <a:lstStyle/>
          <a:p>
            <a:pPr indent="0" marL="0">
              <a:buNone/>
            </a:pPr>
            <a:r>
              <a:rPr lang="en-US" sz="2600" b="1" dirty="0">
                <a:solidFill>
                  <a:srgbClr val="028090"/>
                </a:solidFill>
                <a:latin typeface="Cambria" pitchFamily="34" charset="0"/>
                <a:ea typeface="Cambria" pitchFamily="34" charset="-122"/>
                <a:cs typeface="Cambria" pitchFamily="34" charset="-120"/>
              </a:rPr>
              <a:t>72,856</a:t>
            </a:r>
            <a:endParaRPr lang="en-US" sz="2600" dirty="0"/>
          </a:p>
        </p:txBody>
      </p:sp>
      <p:sp>
        <p:nvSpPr>
          <p:cNvPr id="10" name="Text 8"/>
          <p:cNvSpPr/>
          <p:nvPr/>
        </p:nvSpPr>
        <p:spPr>
          <a:xfrm>
            <a:off x="2560320" y="4800600"/>
            <a:ext cx="1737360" cy="365760"/>
          </a:xfrm>
          <a:prstGeom prst="rect">
            <a:avLst/>
          </a:prstGeom>
          <a:noFill/>
          <a:ln/>
        </p:spPr>
        <p:txBody>
          <a:bodyPr wrap="square" lIns="0" tIns="0" rIns="0" bIns="0" rtlCol="0" anchor="ctr"/>
          <a:lstStyle/>
          <a:p>
            <a:pPr indent="0" marL="0">
              <a:buNone/>
            </a:pPr>
            <a:r>
              <a:rPr lang="en-US" sz="1100" dirty="0">
                <a:solidFill>
                  <a:srgbClr val="5B7D7B"/>
                </a:solidFill>
                <a:latin typeface="Calibri" pitchFamily="34" charset="0"/>
                <a:ea typeface="Calibri" pitchFamily="34" charset="-122"/>
                <a:cs typeface="Calibri" pitchFamily="34" charset="-120"/>
              </a:rPr>
              <a:t>real charging sessions</a:t>
            </a:r>
            <a:endParaRPr lang="en-US" sz="1100" dirty="0"/>
          </a:p>
        </p:txBody>
      </p:sp>
      <p:sp>
        <p:nvSpPr>
          <p:cNvPr id="11" name="Text 9"/>
          <p:cNvSpPr/>
          <p:nvPr/>
        </p:nvSpPr>
        <p:spPr>
          <a:xfrm>
            <a:off x="4572000" y="4297680"/>
            <a:ext cx="1737360" cy="502920"/>
          </a:xfrm>
          <a:prstGeom prst="rect">
            <a:avLst/>
          </a:prstGeom>
          <a:noFill/>
          <a:ln/>
        </p:spPr>
        <p:txBody>
          <a:bodyPr wrap="square" lIns="0" tIns="0" rIns="0" bIns="0" rtlCol="0" anchor="ctr"/>
          <a:lstStyle/>
          <a:p>
            <a:pPr indent="0" marL="0">
              <a:buNone/>
            </a:pPr>
            <a:r>
              <a:rPr lang="en-US" sz="2600" b="1" dirty="0">
                <a:solidFill>
                  <a:srgbClr val="028090"/>
                </a:solidFill>
                <a:latin typeface="Cambria" pitchFamily="34" charset="0"/>
                <a:ea typeface="Cambria" pitchFamily="34" charset="-122"/>
                <a:cs typeface="Cambria" pitchFamily="34" charset="-120"/>
              </a:rPr>
              <a:t>56.1%</a:t>
            </a:r>
            <a:endParaRPr lang="en-US" sz="2600" dirty="0"/>
          </a:p>
        </p:txBody>
      </p:sp>
      <p:sp>
        <p:nvSpPr>
          <p:cNvPr id="12" name="Text 10"/>
          <p:cNvSpPr/>
          <p:nvPr/>
        </p:nvSpPr>
        <p:spPr>
          <a:xfrm>
            <a:off x="4572000" y="4800600"/>
            <a:ext cx="1737360" cy="365760"/>
          </a:xfrm>
          <a:prstGeom prst="rect">
            <a:avLst/>
          </a:prstGeom>
          <a:noFill/>
          <a:ln/>
        </p:spPr>
        <p:txBody>
          <a:bodyPr wrap="square" lIns="0" tIns="0" rIns="0" bIns="0" rtlCol="0" anchor="ctr"/>
          <a:lstStyle/>
          <a:p>
            <a:pPr indent="0" marL="0">
              <a:buNone/>
            </a:pPr>
            <a:r>
              <a:rPr lang="en-US" sz="1100" dirty="0">
                <a:solidFill>
                  <a:srgbClr val="5B7D7B"/>
                </a:solidFill>
                <a:latin typeface="Calibri" pitchFamily="34" charset="0"/>
                <a:ea typeface="Calibri" pitchFamily="34" charset="-122"/>
                <a:cs typeface="Calibri" pitchFamily="34" charset="-120"/>
              </a:rPr>
              <a:t>baseline churn rate</a:t>
            </a:r>
            <a:endParaRPr lang="en-US" sz="1100" dirty="0"/>
          </a:p>
        </p:txBody>
      </p:sp>
      <p:sp>
        <p:nvSpPr>
          <p:cNvPr id="13" name="Text 11"/>
          <p:cNvSpPr/>
          <p:nvPr/>
        </p:nvSpPr>
        <p:spPr>
          <a:xfrm>
            <a:off x="6583680" y="4297680"/>
            <a:ext cx="1737360" cy="502920"/>
          </a:xfrm>
          <a:prstGeom prst="rect">
            <a:avLst/>
          </a:prstGeom>
          <a:noFill/>
          <a:ln/>
        </p:spPr>
        <p:txBody>
          <a:bodyPr wrap="square" lIns="0" tIns="0" rIns="0" bIns="0" rtlCol="0" anchor="ctr"/>
          <a:lstStyle/>
          <a:p>
            <a:pPr indent="0" marL="0">
              <a:buNone/>
            </a:pPr>
            <a:r>
              <a:rPr lang="en-US" sz="2600" b="1" dirty="0">
                <a:solidFill>
                  <a:srgbClr val="028090"/>
                </a:solidFill>
                <a:latin typeface="Cambria" pitchFamily="34" charset="0"/>
                <a:ea typeface="Cambria" pitchFamily="34" charset="-122"/>
                <a:cs typeface="Cambria" pitchFamily="34" charset="-120"/>
              </a:rPr>
              <a:t>43.9%</a:t>
            </a:r>
            <a:endParaRPr lang="en-US" sz="2600" dirty="0"/>
          </a:p>
        </p:txBody>
      </p:sp>
      <p:sp>
        <p:nvSpPr>
          <p:cNvPr id="14" name="Text 12"/>
          <p:cNvSpPr/>
          <p:nvPr/>
        </p:nvSpPr>
        <p:spPr>
          <a:xfrm>
            <a:off x="6583680" y="4800600"/>
            <a:ext cx="1737360" cy="365760"/>
          </a:xfrm>
          <a:prstGeom prst="rect">
            <a:avLst/>
          </a:prstGeom>
          <a:noFill/>
          <a:ln/>
        </p:spPr>
        <p:txBody>
          <a:bodyPr wrap="square" lIns="0" tIns="0" rIns="0" bIns="0" rtlCol="0" anchor="ctr"/>
          <a:lstStyle/>
          <a:p>
            <a:pPr indent="0" marL="0">
              <a:buNone/>
            </a:pPr>
            <a:r>
              <a:rPr lang="en-US" sz="1100" dirty="0">
                <a:solidFill>
                  <a:srgbClr val="5B7D7B"/>
                </a:solidFill>
                <a:latin typeface="Calibri" pitchFamily="34" charset="0"/>
                <a:ea typeface="Calibri" pitchFamily="34" charset="-122"/>
                <a:cs typeface="Calibri" pitchFamily="34" charset="-120"/>
              </a:rPr>
              <a:t>retention rate</a:t>
            </a:r>
            <a:endParaRPr lang="en-US" sz="1100" dirty="0"/>
          </a:p>
        </p:txBody>
      </p:sp>
      <p:sp>
        <p:nvSpPr>
          <p:cNvPr id="15" name="Text 13"/>
          <p:cNvSpPr/>
          <p:nvPr/>
        </p:nvSpPr>
        <p:spPr>
          <a:xfrm>
            <a:off x="548640" y="5577840"/>
            <a:ext cx="7863840" cy="548640"/>
          </a:xfrm>
          <a:prstGeom prst="rect">
            <a:avLst/>
          </a:prstGeom>
          <a:noFill/>
          <a:ln/>
        </p:spPr>
        <p:txBody>
          <a:bodyPr wrap="square" lIns="0" tIns="0" rIns="0" bIns="0" rtlCol="0" anchor="ctr"/>
          <a:lstStyle/>
          <a:p>
            <a:pPr indent="0" marL="0">
              <a:buNone/>
            </a:pPr>
            <a:r>
              <a:rPr lang="en-US" sz="1100" i="1" dirty="0">
                <a:solidFill>
                  <a:srgbClr val="5B7D7B"/>
                </a:solidFill>
                <a:latin typeface="Calibri" pitchFamily="34" charset="0"/>
                <a:ea typeface="Calibri" pitchFamily="34" charset="-122"/>
                <a:cs typeface="Calibri" pitchFamily="34" charset="-120"/>
              </a:rPr>
              <a:t>Churn defined as: no charging session within 60 days of the end of the one-year observation window (subscribed users only).</a:t>
            </a:r>
            <a:endParaRPr lang="en-US" sz="1100" dirty="0"/>
          </a:p>
        </p:txBody>
      </p:sp>
      <p:sp>
        <p:nvSpPr>
          <p:cNvPr id="16" name="Shape 14"/>
          <p:cNvSpPr/>
          <p:nvPr/>
        </p:nvSpPr>
        <p:spPr>
          <a:xfrm>
            <a:off x="8732520" y="457200"/>
            <a:ext cx="2926080" cy="5760720"/>
          </a:xfrm>
          <a:prstGeom prst="roundRect">
            <a:avLst>
              <a:gd name="adj" fmla="val 3750"/>
            </a:avLst>
          </a:prstGeom>
          <a:solidFill>
            <a:srgbClr val="015958"/>
          </a:solidFill>
          <a:ln/>
        </p:spPr>
      </p:sp>
      <p:sp>
        <p:nvSpPr>
          <p:cNvPr id="17" name="Text 15"/>
          <p:cNvSpPr/>
          <p:nvPr/>
        </p:nvSpPr>
        <p:spPr>
          <a:xfrm>
            <a:off x="8961120" y="731520"/>
            <a:ext cx="2468880" cy="274320"/>
          </a:xfrm>
          <a:prstGeom prst="rect">
            <a:avLst/>
          </a:prstGeom>
          <a:noFill/>
          <a:ln/>
        </p:spPr>
        <p:txBody>
          <a:bodyPr wrap="square" lIns="0" tIns="0" rIns="0" bIns="0" rtlCol="0" anchor="ctr"/>
          <a:lstStyle/>
          <a:p>
            <a:pPr indent="0" marL="0">
              <a:buNone/>
            </a:pPr>
            <a:r>
              <a:rPr lang="en-US" sz="1100" b="1" spc="150" kern="0" dirty="0">
                <a:solidFill>
                  <a:srgbClr val="AEE6E1"/>
                </a:solidFill>
                <a:latin typeface="Calibri" pitchFamily="34" charset="0"/>
                <a:ea typeface="Calibri" pitchFamily="34" charset="-122"/>
                <a:cs typeface="Calibri" pitchFamily="34" charset="-120"/>
              </a:rPr>
              <a:t>MODELS TESTED</a:t>
            </a:r>
            <a:endParaRPr lang="en-US" sz="1100" dirty="0"/>
          </a:p>
        </p:txBody>
      </p:sp>
      <p:sp>
        <p:nvSpPr>
          <p:cNvPr id="18" name="Text 16"/>
          <p:cNvSpPr/>
          <p:nvPr/>
        </p:nvSpPr>
        <p:spPr>
          <a:xfrm>
            <a:off x="8961120" y="1005840"/>
            <a:ext cx="2468880" cy="594360"/>
          </a:xfrm>
          <a:prstGeom prst="rect">
            <a:avLst/>
          </a:prstGeom>
          <a:noFill/>
          <a:ln/>
        </p:spPr>
        <p:txBody>
          <a:bodyPr wrap="square" lIns="0" tIns="0" rIns="0" bIns="0" rtlCol="0" anchor="t"/>
          <a:lstStyle/>
          <a:p>
            <a:pPr indent="0" marL="0">
              <a:buNone/>
            </a:pPr>
            <a:r>
              <a:rPr lang="en-US" sz="1100" dirty="0">
                <a:solidFill>
                  <a:srgbClr val="CFE9E6"/>
                </a:solidFill>
                <a:latin typeface="Calibri" pitchFamily="34" charset="0"/>
                <a:ea typeface="Calibri" pitchFamily="34" charset="-122"/>
                <a:cs typeface="Calibri" pitchFamily="34" charset="-120"/>
              </a:rPr>
              <a:t>Logistic Regression, Decision Tree, Random Forest, XGBoost</a:t>
            </a:r>
            <a:endParaRPr lang="en-US" sz="1100" dirty="0"/>
          </a:p>
        </p:txBody>
      </p:sp>
      <p:sp>
        <p:nvSpPr>
          <p:cNvPr id="19" name="Text 17"/>
          <p:cNvSpPr/>
          <p:nvPr/>
        </p:nvSpPr>
        <p:spPr>
          <a:xfrm>
            <a:off x="8961120" y="1645920"/>
            <a:ext cx="2468880" cy="36576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SELECTED: Random Forest</a:t>
            </a:r>
            <a:endParaRPr lang="en-US" sz="1600" dirty="0"/>
          </a:p>
        </p:txBody>
      </p:sp>
      <p:sp>
        <p:nvSpPr>
          <p:cNvPr id="20" name="Text 18"/>
          <p:cNvSpPr/>
          <p:nvPr/>
        </p:nvSpPr>
        <p:spPr>
          <a:xfrm>
            <a:off x="8961120" y="2011680"/>
            <a:ext cx="2468880" cy="685800"/>
          </a:xfrm>
          <a:prstGeom prst="rect">
            <a:avLst/>
          </a:prstGeom>
          <a:noFill/>
          <a:ln/>
        </p:spPr>
        <p:txBody>
          <a:bodyPr wrap="square" lIns="0" tIns="0" rIns="0" bIns="0" rtlCol="0" anchor="t"/>
          <a:lstStyle/>
          <a:p>
            <a:pPr indent="0" marL="0">
              <a:buNone/>
            </a:pPr>
            <a:r>
              <a:rPr lang="en-US" sz="950" i="1" dirty="0">
                <a:solidFill>
                  <a:srgbClr val="CFE9E6"/>
                </a:solidFill>
                <a:latin typeface="Calibri" pitchFamily="34" charset="0"/>
                <a:ea typeface="Calibri" pitchFamily="34" charset="-122"/>
                <a:cs typeface="Calibri" pitchFamily="34" charset="-120"/>
              </a:rPr>
              <a:t>All three tuned finalists (Logistic Regression, Random Forest, XGBoost) landed within ~1-2 points of each other. Random Forest was kept since it edges out on test AUC and integrates directly with SHAP.</a:t>
            </a:r>
            <a:endParaRPr lang="en-US" sz="950" dirty="0"/>
          </a:p>
        </p:txBody>
      </p:sp>
      <p:sp>
        <p:nvSpPr>
          <p:cNvPr id="21" name="Text 19"/>
          <p:cNvSpPr/>
          <p:nvPr/>
        </p:nvSpPr>
        <p:spPr>
          <a:xfrm>
            <a:off x="8961120" y="2743200"/>
            <a:ext cx="2468880" cy="457200"/>
          </a:xfrm>
          <a:prstGeom prst="rect">
            <a:avLst/>
          </a:prstGeom>
          <a:noFill/>
          <a:ln/>
        </p:spPr>
        <p:txBody>
          <a:bodyPr wrap="square" lIns="0" tIns="0" rIns="0" bIns="0" rtlCol="0" anchor="ctr"/>
          <a:lstStyle/>
          <a:p>
            <a:pPr indent="0" marL="0">
              <a:buNone/>
            </a:pPr>
            <a:r>
              <a:rPr lang="en-US" sz="2800" b="1" dirty="0">
                <a:solidFill>
                  <a:srgbClr val="00A896"/>
                </a:solidFill>
                <a:latin typeface="Cambria" pitchFamily="34" charset="0"/>
                <a:ea typeface="Cambria" pitchFamily="34" charset="-122"/>
                <a:cs typeface="Cambria" pitchFamily="34" charset="-120"/>
              </a:rPr>
              <a:t>69.2%</a:t>
            </a:r>
            <a:endParaRPr lang="en-US" sz="2800" dirty="0"/>
          </a:p>
        </p:txBody>
      </p:sp>
      <p:sp>
        <p:nvSpPr>
          <p:cNvPr id="22" name="Text 20"/>
          <p:cNvSpPr/>
          <p:nvPr/>
        </p:nvSpPr>
        <p:spPr>
          <a:xfrm>
            <a:off x="8961120" y="3200400"/>
            <a:ext cx="2468880" cy="274320"/>
          </a:xfrm>
          <a:prstGeom prst="rect">
            <a:avLst/>
          </a:prstGeom>
          <a:noFill/>
          <a:ln/>
        </p:spPr>
        <p:txBody>
          <a:bodyPr wrap="square" lIns="0" tIns="0" rIns="0" bIns="0" rtlCol="0" anchor="ctr"/>
          <a:lstStyle/>
          <a:p>
            <a:pPr indent="0" marL="0">
              <a:buNone/>
            </a:pPr>
            <a:r>
              <a:rPr lang="en-US" sz="1050" dirty="0">
                <a:solidFill>
                  <a:srgbClr val="CFE9E6"/>
                </a:solidFill>
                <a:latin typeface="Calibri" pitchFamily="34" charset="0"/>
                <a:ea typeface="Calibri" pitchFamily="34" charset="-122"/>
                <a:cs typeface="Calibri" pitchFamily="34" charset="-120"/>
              </a:rPr>
              <a:t>test accuracy</a:t>
            </a:r>
            <a:endParaRPr lang="en-US" sz="1050" dirty="0"/>
          </a:p>
        </p:txBody>
      </p:sp>
      <p:sp>
        <p:nvSpPr>
          <p:cNvPr id="23" name="Text 21"/>
          <p:cNvSpPr/>
          <p:nvPr/>
        </p:nvSpPr>
        <p:spPr>
          <a:xfrm>
            <a:off x="8961120" y="3520440"/>
            <a:ext cx="2468880" cy="457200"/>
          </a:xfrm>
          <a:prstGeom prst="rect">
            <a:avLst/>
          </a:prstGeom>
          <a:noFill/>
          <a:ln/>
        </p:spPr>
        <p:txBody>
          <a:bodyPr wrap="square" lIns="0" tIns="0" rIns="0" bIns="0" rtlCol="0" anchor="ctr"/>
          <a:lstStyle/>
          <a:p>
            <a:pPr indent="0" marL="0">
              <a:buNone/>
            </a:pPr>
            <a:r>
              <a:rPr lang="en-US" sz="2800" b="1" dirty="0">
                <a:solidFill>
                  <a:srgbClr val="00A896"/>
                </a:solidFill>
                <a:latin typeface="Cambria" pitchFamily="34" charset="0"/>
                <a:ea typeface="Cambria" pitchFamily="34" charset="-122"/>
                <a:cs typeface="Cambria" pitchFamily="34" charset="-120"/>
              </a:rPr>
              <a:t>0.705</a:t>
            </a:r>
            <a:endParaRPr lang="en-US" sz="2800" dirty="0"/>
          </a:p>
        </p:txBody>
      </p:sp>
      <p:sp>
        <p:nvSpPr>
          <p:cNvPr id="24" name="Text 22"/>
          <p:cNvSpPr/>
          <p:nvPr/>
        </p:nvSpPr>
        <p:spPr>
          <a:xfrm>
            <a:off x="8961120" y="3977640"/>
            <a:ext cx="2468880" cy="274320"/>
          </a:xfrm>
          <a:prstGeom prst="rect">
            <a:avLst/>
          </a:prstGeom>
          <a:noFill/>
          <a:ln/>
        </p:spPr>
        <p:txBody>
          <a:bodyPr wrap="square" lIns="0" tIns="0" rIns="0" bIns="0" rtlCol="0" anchor="ctr"/>
          <a:lstStyle/>
          <a:p>
            <a:pPr indent="0" marL="0">
              <a:buNone/>
            </a:pPr>
            <a:r>
              <a:rPr lang="en-US" sz="1050" dirty="0">
                <a:solidFill>
                  <a:srgbClr val="CFE9E6"/>
                </a:solidFill>
                <a:latin typeface="Calibri" pitchFamily="34" charset="0"/>
                <a:ea typeface="Calibri" pitchFamily="34" charset="-122"/>
                <a:cs typeface="Calibri" pitchFamily="34" charset="-120"/>
              </a:rPr>
              <a:t>ROC-AUC (cross-validated)</a:t>
            </a:r>
            <a:endParaRPr lang="en-US" sz="1050" dirty="0"/>
          </a:p>
        </p:txBody>
      </p:sp>
      <p:sp>
        <p:nvSpPr>
          <p:cNvPr id="25" name="Text 23"/>
          <p:cNvSpPr/>
          <p:nvPr/>
        </p:nvSpPr>
        <p:spPr>
          <a:xfrm>
            <a:off x="8961120" y="4343400"/>
            <a:ext cx="2468880" cy="914400"/>
          </a:xfrm>
          <a:prstGeom prst="rect">
            <a:avLst/>
          </a:prstGeom>
          <a:noFill/>
          <a:ln/>
        </p:spPr>
        <p:txBody>
          <a:bodyPr wrap="square" lIns="0" tIns="0" rIns="0" bIns="0" rtlCol="0" anchor="t"/>
          <a:lstStyle/>
          <a:p>
            <a:pPr indent="0" marL="0">
              <a:buNone/>
            </a:pPr>
            <a:r>
              <a:rPr lang="en-US" sz="1000" i="1" dirty="0">
                <a:solidFill>
                  <a:srgbClr val="CFE9E6"/>
                </a:solidFill>
                <a:latin typeface="Calibri" pitchFamily="34" charset="0"/>
                <a:ea typeface="Calibri" pitchFamily="34" charset="-122"/>
                <a:cs typeface="Calibri" pitchFamily="34" charset="-120"/>
              </a:rPr>
              <a:t>Validated with 5-fold cross-validation, threshold sensitivity testing, and 5-seed stability checks.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8229600" cy="548640"/>
          </a:xfrm>
          <a:prstGeom prst="rect">
            <a:avLst/>
          </a:prstGeom>
          <a:noFill/>
          <a:ln/>
        </p:spPr>
        <p:txBody>
          <a:bodyPr wrap="square" lIns="0" tIns="0" rIns="0" bIns="0" rtlCol="0" anchor="ctr"/>
          <a:lstStyle/>
          <a:p>
            <a:pPr indent="0" marL="0">
              <a:buNone/>
            </a:pPr>
            <a:r>
              <a:rPr lang="en-US" sz="2600" b="1" dirty="0">
                <a:solidFill>
                  <a:srgbClr val="0B2B2A"/>
                </a:solidFill>
                <a:latin typeface="Cambria" pitchFamily="34" charset="0"/>
                <a:ea typeface="Cambria" pitchFamily="34" charset="-122"/>
                <a:cs typeface="Cambria" pitchFamily="34" charset="-120"/>
              </a:rPr>
              <a:t>Explainability: What Drives Churn</a:t>
            </a:r>
            <a:endParaRPr lang="en-US" sz="2600" dirty="0"/>
          </a:p>
        </p:txBody>
      </p:sp>
      <p:sp>
        <p:nvSpPr>
          <p:cNvPr id="3" name="Text 1"/>
          <p:cNvSpPr/>
          <p:nvPr/>
        </p:nvSpPr>
        <p:spPr>
          <a:xfrm>
            <a:off x="548640" y="868680"/>
            <a:ext cx="8229600" cy="365760"/>
          </a:xfrm>
          <a:prstGeom prst="rect">
            <a:avLst/>
          </a:prstGeom>
          <a:noFill/>
          <a:ln/>
        </p:spPr>
        <p:txBody>
          <a:bodyPr wrap="square" lIns="0" tIns="0" rIns="0" bIns="0" rtlCol="0" anchor="ctr"/>
          <a:lstStyle/>
          <a:p>
            <a:pPr indent="0" marL="0">
              <a:buNone/>
            </a:pPr>
            <a:r>
              <a:rPr lang="en-US" sz="1300" i="1" dirty="0">
                <a:solidFill>
                  <a:srgbClr val="5B7D7B"/>
                </a:solidFill>
                <a:latin typeface="Calibri" pitchFamily="34" charset="0"/>
                <a:ea typeface="Calibri" pitchFamily="34" charset="-122"/>
                <a:cs typeface="Calibri" pitchFamily="34" charset="-120"/>
              </a:rPr>
              <a:t>SHAP (SHapley Additive exPlanations) on the tuned Random Forest model</a:t>
            </a:r>
            <a:endParaRPr lang="en-US" sz="1300" dirty="0"/>
          </a:p>
        </p:txBody>
      </p:sp>
      <p:pic>
        <p:nvPicPr>
          <p:cNvPr id="4" name="Image 0" descr="shap_summary_beeswarm.png">    </p:cNvPr>
          <p:cNvPicPr>
            <a:picLocks noChangeAspect="1"/>
          </p:cNvPicPr>
          <p:nvPr/>
        </p:nvPicPr>
        <p:blipFill>
          <a:blip r:embed="rId1"/>
          <a:srcRect l="0" r="0" t="0" b="0"/>
          <a:stretch/>
        </p:blipFill>
        <p:spPr>
          <a:xfrm>
            <a:off x="548640" y="1371600"/>
            <a:ext cx="6675120" cy="4937760"/>
          </a:xfrm>
          <a:prstGeom prst="rect">
            <a:avLst/>
          </a:prstGeom>
        </p:spPr>
      </p:pic>
      <p:sp>
        <p:nvSpPr>
          <p:cNvPr id="5" name="Shape 2"/>
          <p:cNvSpPr/>
          <p:nvPr/>
        </p:nvSpPr>
        <p:spPr>
          <a:xfrm>
            <a:off x="7452360" y="1371600"/>
            <a:ext cx="4206240" cy="4937760"/>
          </a:xfrm>
          <a:prstGeom prst="roundRect">
            <a:avLst>
              <a:gd name="adj" fmla="val 2174"/>
            </a:avLst>
          </a:prstGeom>
          <a:solidFill>
            <a:srgbClr val="F0F9F8"/>
          </a:solidFill>
          <a:ln/>
        </p:spPr>
      </p:sp>
      <p:sp>
        <p:nvSpPr>
          <p:cNvPr id="6" name="Text 3"/>
          <p:cNvSpPr/>
          <p:nvPr/>
        </p:nvSpPr>
        <p:spPr>
          <a:xfrm>
            <a:off x="7680960" y="1600200"/>
            <a:ext cx="3749040" cy="320040"/>
          </a:xfrm>
          <a:prstGeom prst="rect">
            <a:avLst/>
          </a:prstGeom>
          <a:noFill/>
          <a:ln/>
        </p:spPr>
        <p:txBody>
          <a:bodyPr wrap="square" lIns="0" tIns="0" rIns="0" bIns="0" rtlCol="0" anchor="ctr"/>
          <a:lstStyle/>
          <a:p>
            <a:pPr indent="0" marL="0">
              <a:buNone/>
            </a:pPr>
            <a:r>
              <a:rPr lang="en-US" sz="1300" b="1" spc="100" kern="0" dirty="0">
                <a:solidFill>
                  <a:srgbClr val="015958"/>
                </a:solidFill>
                <a:latin typeface="Calibri" pitchFamily="34" charset="0"/>
                <a:ea typeface="Calibri" pitchFamily="34" charset="-122"/>
                <a:cs typeface="Calibri" pitchFamily="34" charset="-120"/>
              </a:rPr>
              <a:t>TOP CHURN DRIVERS</a:t>
            </a:r>
            <a:endParaRPr lang="en-US" sz="1300" dirty="0"/>
          </a:p>
        </p:txBody>
      </p:sp>
      <p:sp>
        <p:nvSpPr>
          <p:cNvPr id="7" name="Shape 4"/>
          <p:cNvSpPr/>
          <p:nvPr/>
        </p:nvSpPr>
        <p:spPr>
          <a:xfrm>
            <a:off x="7680960" y="2057400"/>
            <a:ext cx="384048" cy="384048"/>
          </a:xfrm>
          <a:prstGeom prst="ellipse">
            <a:avLst/>
          </a:prstGeom>
          <a:solidFill>
            <a:srgbClr val="00A896"/>
          </a:solidFill>
          <a:ln/>
        </p:spPr>
      </p:sp>
      <p:sp>
        <p:nvSpPr>
          <p:cNvPr id="8" name="Text 5"/>
          <p:cNvSpPr/>
          <p:nvPr/>
        </p:nvSpPr>
        <p:spPr>
          <a:xfrm>
            <a:off x="7680960" y="205740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6"/>
          <p:cNvSpPr/>
          <p:nvPr/>
        </p:nvSpPr>
        <p:spPr>
          <a:xfrm>
            <a:off x="8183880" y="2011680"/>
            <a:ext cx="3246120" cy="320040"/>
          </a:xfrm>
          <a:prstGeom prst="rect">
            <a:avLst/>
          </a:prstGeom>
          <a:noFill/>
          <a:ln/>
        </p:spPr>
        <p:txBody>
          <a:bodyPr wrap="square" lIns="0" tIns="0" rIns="0" bIns="0" rtlCol="0" anchor="ctr"/>
          <a:lstStyle/>
          <a:p>
            <a:pPr indent="0" marL="0">
              <a:buNone/>
            </a:pPr>
            <a:r>
              <a:rPr lang="en-US" sz="1300" b="1" dirty="0">
                <a:solidFill>
                  <a:srgbClr val="0B2B2A"/>
                </a:solidFill>
                <a:latin typeface="Calibri" pitchFamily="34" charset="0"/>
                <a:ea typeface="Calibri" pitchFamily="34" charset="-122"/>
                <a:cs typeface="Calibri" pitchFamily="34" charset="-120"/>
              </a:rPr>
              <a:t>Tenure (days)</a:t>
            </a:r>
            <a:endParaRPr lang="en-US" sz="1300" dirty="0"/>
          </a:p>
        </p:txBody>
      </p:sp>
      <p:sp>
        <p:nvSpPr>
          <p:cNvPr id="10" name="Text 7"/>
          <p:cNvSpPr/>
          <p:nvPr/>
        </p:nvSpPr>
        <p:spPr>
          <a:xfrm>
            <a:off x="8183880" y="2350008"/>
            <a:ext cx="3246120" cy="640080"/>
          </a:xfrm>
          <a:prstGeom prst="rect">
            <a:avLst/>
          </a:prstGeom>
          <a:noFill/>
          <a:ln/>
        </p:spPr>
        <p:txBody>
          <a:bodyPr wrap="square" lIns="0" tIns="0" rIns="0" bIns="0" rtlCol="0" anchor="t"/>
          <a:lstStyle/>
          <a:p>
            <a:pPr indent="0" marL="0">
              <a:buNone/>
            </a:pPr>
            <a:r>
              <a:rPr lang="en-US" sz="1050" dirty="0">
                <a:solidFill>
                  <a:srgbClr val="5B7D7B"/>
                </a:solidFill>
                <a:latin typeface="Calibri" pitchFamily="34" charset="0"/>
                <a:ea typeface="Calibri" pitchFamily="34" charset="-122"/>
                <a:cs typeface="Calibri" pitchFamily="34" charset="-120"/>
              </a:rPr>
              <a:t>Strongest predictor by far. Longer-tenured users are far less likely to churn.</a:t>
            </a:r>
            <a:endParaRPr lang="en-US" sz="1050" dirty="0"/>
          </a:p>
        </p:txBody>
      </p:sp>
      <p:sp>
        <p:nvSpPr>
          <p:cNvPr id="11" name="Shape 8"/>
          <p:cNvSpPr/>
          <p:nvPr/>
        </p:nvSpPr>
        <p:spPr>
          <a:xfrm>
            <a:off x="7680960" y="3108960"/>
            <a:ext cx="384048" cy="384048"/>
          </a:xfrm>
          <a:prstGeom prst="ellipse">
            <a:avLst/>
          </a:prstGeom>
          <a:solidFill>
            <a:srgbClr val="00A896"/>
          </a:solidFill>
          <a:ln/>
        </p:spPr>
      </p:sp>
      <p:sp>
        <p:nvSpPr>
          <p:cNvPr id="12" name="Text 9"/>
          <p:cNvSpPr/>
          <p:nvPr/>
        </p:nvSpPr>
        <p:spPr>
          <a:xfrm>
            <a:off x="7680960" y="310896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0"/>
          <p:cNvSpPr/>
          <p:nvPr/>
        </p:nvSpPr>
        <p:spPr>
          <a:xfrm>
            <a:off x="8183880" y="3063240"/>
            <a:ext cx="3246120" cy="320040"/>
          </a:xfrm>
          <a:prstGeom prst="rect">
            <a:avLst/>
          </a:prstGeom>
          <a:noFill/>
          <a:ln/>
        </p:spPr>
        <p:txBody>
          <a:bodyPr wrap="square" lIns="0" tIns="0" rIns="0" bIns="0" rtlCol="0" anchor="ctr"/>
          <a:lstStyle/>
          <a:p>
            <a:pPr indent="0" marL="0">
              <a:buNone/>
            </a:pPr>
            <a:r>
              <a:rPr lang="en-US" sz="1300" b="1" dirty="0">
                <a:solidFill>
                  <a:srgbClr val="0B2B2A"/>
                </a:solidFill>
                <a:latin typeface="Calibri" pitchFamily="34" charset="0"/>
                <a:ea typeface="Calibri" pitchFamily="34" charset="-122"/>
                <a:cs typeface="Calibri" pitchFamily="34" charset="-120"/>
              </a:rPr>
              <a:t>Total energy demand</a:t>
            </a:r>
            <a:endParaRPr lang="en-US" sz="1300" dirty="0"/>
          </a:p>
        </p:txBody>
      </p:sp>
      <p:sp>
        <p:nvSpPr>
          <p:cNvPr id="14" name="Text 11"/>
          <p:cNvSpPr/>
          <p:nvPr/>
        </p:nvSpPr>
        <p:spPr>
          <a:xfrm>
            <a:off x="8183880" y="3401568"/>
            <a:ext cx="3246120" cy="640080"/>
          </a:xfrm>
          <a:prstGeom prst="rect">
            <a:avLst/>
          </a:prstGeom>
          <a:noFill/>
          <a:ln/>
        </p:spPr>
        <p:txBody>
          <a:bodyPr wrap="square" lIns="0" tIns="0" rIns="0" bIns="0" rtlCol="0" anchor="t"/>
          <a:lstStyle/>
          <a:p>
            <a:pPr indent="0" marL="0">
              <a:buNone/>
            </a:pPr>
            <a:r>
              <a:rPr lang="en-US" sz="1050" dirty="0">
                <a:solidFill>
                  <a:srgbClr val="5B7D7B"/>
                </a:solidFill>
                <a:latin typeface="Calibri" pitchFamily="34" charset="0"/>
                <a:ea typeface="Calibri" pitchFamily="34" charset="-122"/>
                <a:cs typeface="Calibri" pitchFamily="34" charset="-120"/>
              </a:rPr>
              <a:t>Heavier total usage over the year correlates with staying active.</a:t>
            </a:r>
            <a:endParaRPr lang="en-US" sz="1050" dirty="0"/>
          </a:p>
        </p:txBody>
      </p:sp>
      <p:sp>
        <p:nvSpPr>
          <p:cNvPr id="15" name="Shape 12"/>
          <p:cNvSpPr/>
          <p:nvPr/>
        </p:nvSpPr>
        <p:spPr>
          <a:xfrm>
            <a:off x="7680960" y="4160520"/>
            <a:ext cx="384048" cy="384048"/>
          </a:xfrm>
          <a:prstGeom prst="ellipse">
            <a:avLst/>
          </a:prstGeom>
          <a:solidFill>
            <a:srgbClr val="00A896"/>
          </a:solidFill>
          <a:ln/>
        </p:spPr>
      </p:sp>
      <p:sp>
        <p:nvSpPr>
          <p:cNvPr id="16" name="Text 13"/>
          <p:cNvSpPr/>
          <p:nvPr/>
        </p:nvSpPr>
        <p:spPr>
          <a:xfrm>
            <a:off x="7680960" y="416052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4"/>
          <p:cNvSpPr/>
          <p:nvPr/>
        </p:nvSpPr>
        <p:spPr>
          <a:xfrm>
            <a:off x="8183880" y="4114800"/>
            <a:ext cx="3246120" cy="320040"/>
          </a:xfrm>
          <a:prstGeom prst="rect">
            <a:avLst/>
          </a:prstGeom>
          <a:noFill/>
          <a:ln/>
        </p:spPr>
        <p:txBody>
          <a:bodyPr wrap="square" lIns="0" tIns="0" rIns="0" bIns="0" rtlCol="0" anchor="ctr"/>
          <a:lstStyle/>
          <a:p>
            <a:pPr indent="0" marL="0">
              <a:buNone/>
            </a:pPr>
            <a:r>
              <a:rPr lang="en-US" sz="1300" b="1" dirty="0">
                <a:solidFill>
                  <a:srgbClr val="0B2B2A"/>
                </a:solidFill>
                <a:latin typeface="Calibri" pitchFamily="34" charset="0"/>
                <a:ea typeface="Calibri" pitchFamily="34" charset="-122"/>
                <a:cs typeface="Calibri" pitchFamily="34" charset="-120"/>
              </a:rPr>
              <a:t>Session count</a:t>
            </a:r>
            <a:endParaRPr lang="en-US" sz="1300" dirty="0"/>
          </a:p>
        </p:txBody>
      </p:sp>
      <p:sp>
        <p:nvSpPr>
          <p:cNvPr id="18" name="Text 15"/>
          <p:cNvSpPr/>
          <p:nvPr/>
        </p:nvSpPr>
        <p:spPr>
          <a:xfrm>
            <a:off x="8183880" y="4453128"/>
            <a:ext cx="3246120" cy="640080"/>
          </a:xfrm>
          <a:prstGeom prst="rect">
            <a:avLst/>
          </a:prstGeom>
          <a:noFill/>
          <a:ln/>
        </p:spPr>
        <p:txBody>
          <a:bodyPr wrap="square" lIns="0" tIns="0" rIns="0" bIns="0" rtlCol="0" anchor="t"/>
          <a:lstStyle/>
          <a:p>
            <a:pPr indent="0" marL="0">
              <a:buNone/>
            </a:pPr>
            <a:r>
              <a:rPr lang="en-US" sz="1050" dirty="0">
                <a:solidFill>
                  <a:srgbClr val="5B7D7B"/>
                </a:solidFill>
                <a:latin typeface="Calibri" pitchFamily="34" charset="0"/>
                <a:ea typeface="Calibri" pitchFamily="34" charset="-122"/>
                <a:cs typeface="Calibri" pitchFamily="34" charset="-120"/>
              </a:rPr>
              <a:t>More frequent charging sessions signal an engaged, retained user.</a:t>
            </a:r>
            <a:endParaRPr lang="en-US" sz="1050" dirty="0"/>
          </a:p>
        </p:txBody>
      </p:sp>
      <p:sp>
        <p:nvSpPr>
          <p:cNvPr id="19" name="Text 16"/>
          <p:cNvSpPr/>
          <p:nvPr/>
        </p:nvSpPr>
        <p:spPr>
          <a:xfrm>
            <a:off x="7680960" y="5303520"/>
            <a:ext cx="3749040" cy="914400"/>
          </a:xfrm>
          <a:prstGeom prst="rect">
            <a:avLst/>
          </a:prstGeom>
          <a:noFill/>
          <a:ln/>
        </p:spPr>
        <p:txBody>
          <a:bodyPr wrap="square" lIns="0" tIns="0" rIns="0" bIns="0" rtlCol="0" anchor="t"/>
          <a:lstStyle/>
          <a:p>
            <a:pPr indent="0" marL="0">
              <a:buNone/>
            </a:pPr>
            <a:r>
              <a:rPr lang="en-US" sz="1000" i="1" dirty="0">
                <a:solidFill>
                  <a:srgbClr val="5B7D7B"/>
                </a:solidFill>
                <a:latin typeface="Calibri" pitchFamily="34" charset="0"/>
                <a:ea typeface="Calibri" pitchFamily="34" charset="-122"/>
                <a:cs typeface="Calibri" pitchFamily="34" charset="-120"/>
              </a:rPr>
              <a:t>Cross-checked independently: Logistic Regression coefficients agree, tenure has the largest-magnitude coefficient of any feature.</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8229600" cy="548640"/>
          </a:xfrm>
          <a:prstGeom prst="rect">
            <a:avLst/>
          </a:prstGeom>
          <a:noFill/>
          <a:ln/>
        </p:spPr>
        <p:txBody>
          <a:bodyPr wrap="square" lIns="0" tIns="0" rIns="0" bIns="0" rtlCol="0" anchor="ctr"/>
          <a:lstStyle/>
          <a:p>
            <a:pPr indent="0" marL="0">
              <a:buNone/>
            </a:pPr>
            <a:r>
              <a:rPr lang="en-US" sz="2600" b="1" dirty="0">
                <a:solidFill>
                  <a:srgbClr val="0B2B2A"/>
                </a:solidFill>
                <a:latin typeface="Cambria" pitchFamily="34" charset="0"/>
                <a:ea typeface="Cambria" pitchFamily="34" charset="-122"/>
                <a:cs typeface="Cambria" pitchFamily="34" charset="-120"/>
              </a:rPr>
              <a:t>Model Comparison &amp; Validation</a:t>
            </a:r>
            <a:endParaRPr lang="en-US" sz="2600" dirty="0"/>
          </a:p>
        </p:txBody>
      </p:sp>
      <p:sp>
        <p:nvSpPr>
          <p:cNvPr id="3" name="Text 1"/>
          <p:cNvSpPr/>
          <p:nvPr/>
        </p:nvSpPr>
        <p:spPr>
          <a:xfrm>
            <a:off x="548640" y="868680"/>
            <a:ext cx="8229600" cy="365760"/>
          </a:xfrm>
          <a:prstGeom prst="rect">
            <a:avLst/>
          </a:prstGeom>
          <a:noFill/>
          <a:ln/>
        </p:spPr>
        <p:txBody>
          <a:bodyPr wrap="square" lIns="0" tIns="0" rIns="0" bIns="0" rtlCol="0" anchor="ctr"/>
          <a:lstStyle/>
          <a:p>
            <a:pPr indent="0" marL="0">
              <a:buNone/>
            </a:pPr>
            <a:r>
              <a:rPr lang="en-US" sz="1300" i="1" dirty="0">
                <a:solidFill>
                  <a:srgbClr val="5B7D7B"/>
                </a:solidFill>
                <a:latin typeface="Calibri" pitchFamily="34" charset="0"/>
                <a:ea typeface="Calibri" pitchFamily="34" charset="-122"/>
                <a:cs typeface="Calibri" pitchFamily="34" charset="-120"/>
              </a:rPr>
              <a:t>Best tuned version of each model, engineered features, same train/test split</a:t>
            </a:r>
            <a:endParaRPr lang="en-US" sz="13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7498080" cy="1828800"/>
        </p:xfrm>
        <a:graphic>
          <a:graphicData uri="http://schemas.openxmlformats.org/drawingml/2006/table">
            <a:tbl>
              <a:tblPr/>
              <a:tblGrid>
                <a:gridCol w="2926080"/>
                <a:gridCol w="1527048"/>
                <a:gridCol w="1527048"/>
                <a:gridCol w="1527048"/>
              </a:tblGrid>
              <a:tr h="457200">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Model</a:t>
                      </a:r>
                      <a:endParaRPr lang="en-US" sz="1300" dirty="0">
                        <a:latin typeface="Calibri" charset="0"/>
                        <a:ea typeface="Calibri" charset="0"/>
                        <a:cs typeface="Calibri" charset="0"/>
                      </a:endParaRPr>
                    </a:p>
                  </a:txBody>
                  <a:tcPr marL="91440" marR="91440" marT="45720" marB="45720" anchor="ctr">
                    <a:lnL w="9525" cap="flat" cmpd="sng" algn="ctr">
                      <a:solidFill>
                        <a:srgbClr val="D8E8E6"/>
                      </a:solidFill>
                      <a:prstDash val="solid"/>
                      <a:round/>
                      <a:headEnd type="none" w="med" len="med"/>
                      <a:tailEnd type="none" w="med" len="med"/>
                    </a:lnL>
                    <a:lnR w="9525" cap="flat" cmpd="sng" algn="ctr">
                      <a:solidFill>
                        <a:srgbClr val="D8E8E6"/>
                      </a:solidFill>
                      <a:prstDash val="solid"/>
                      <a:round/>
                      <a:headEnd type="none" w="med" len="med"/>
                      <a:tailEnd type="none" w="med" len="med"/>
                    </a:lnR>
                    <a:lnT w="9525" cap="flat" cmpd="sng" algn="ctr">
                      <a:solidFill>
                        <a:srgbClr val="D8E8E6"/>
                      </a:solidFill>
                      <a:prstDash val="solid"/>
                      <a:round/>
                      <a:headEnd type="none" w="med" len="med"/>
                      <a:tailEnd type="none" w="med" len="med"/>
                    </a:lnT>
                    <a:lnB w="9525" cap="flat" cmpd="sng" algn="ctr">
                      <a:solidFill>
                        <a:srgbClr val="D8E8E6"/>
                      </a:solidFill>
                      <a:prstDash val="solid"/>
                      <a:round/>
                      <a:headEnd type="none" w="med" len="med"/>
                      <a:tailEnd type="none" w="med" len="med"/>
                    </a:lnB>
                    <a:solidFill>
                      <a:srgbClr val="015958"/>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CV AUC</a:t>
                      </a:r>
                      <a:endParaRPr lang="en-US" sz="1300" dirty="0">
                        <a:latin typeface="Calibri" charset="0"/>
                        <a:ea typeface="Calibri" charset="0"/>
                        <a:cs typeface="Calibri" charset="0"/>
                      </a:endParaRPr>
                    </a:p>
                  </a:txBody>
                  <a:tcPr marL="91440" marR="91440" marT="45720" marB="45720" anchor="ctr">
                    <a:lnL w="9525" cap="flat" cmpd="sng" algn="ctr">
                      <a:solidFill>
                        <a:srgbClr val="D8E8E6"/>
                      </a:solidFill>
                      <a:prstDash val="solid"/>
                      <a:round/>
                      <a:headEnd type="none" w="med" len="med"/>
                      <a:tailEnd type="none" w="med" len="med"/>
                    </a:lnL>
                    <a:lnR w="9525" cap="flat" cmpd="sng" algn="ctr">
                      <a:solidFill>
                        <a:srgbClr val="D8E8E6"/>
                      </a:solidFill>
                      <a:prstDash val="solid"/>
                      <a:round/>
                      <a:headEnd type="none" w="med" len="med"/>
                      <a:tailEnd type="none" w="med" len="med"/>
                    </a:lnR>
                    <a:lnT w="9525" cap="flat" cmpd="sng" algn="ctr">
                      <a:solidFill>
                        <a:srgbClr val="D8E8E6"/>
                      </a:solidFill>
                      <a:prstDash val="solid"/>
                      <a:round/>
                      <a:headEnd type="none" w="med" len="med"/>
                      <a:tailEnd type="none" w="med" len="med"/>
                    </a:lnT>
                    <a:lnB w="9525" cap="flat" cmpd="sng" algn="ctr">
                      <a:solidFill>
                        <a:srgbClr val="D8E8E6"/>
                      </a:solidFill>
                      <a:prstDash val="solid"/>
                      <a:round/>
                      <a:headEnd type="none" w="med" len="med"/>
                      <a:tailEnd type="none" w="med" len="med"/>
                    </a:lnB>
                    <a:solidFill>
                      <a:srgbClr val="015958"/>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Test Accuracy</a:t>
                      </a:r>
                      <a:endParaRPr lang="en-US" sz="1300" dirty="0">
                        <a:latin typeface="Calibri" charset="0"/>
                        <a:ea typeface="Calibri" charset="0"/>
                        <a:cs typeface="Calibri" charset="0"/>
                      </a:endParaRPr>
                    </a:p>
                  </a:txBody>
                  <a:tcPr marL="91440" marR="91440" marT="45720" marB="45720" anchor="ctr">
                    <a:lnL w="9525" cap="flat" cmpd="sng" algn="ctr">
                      <a:solidFill>
                        <a:srgbClr val="D8E8E6"/>
                      </a:solidFill>
                      <a:prstDash val="solid"/>
                      <a:round/>
                      <a:headEnd type="none" w="med" len="med"/>
                      <a:tailEnd type="none" w="med" len="med"/>
                    </a:lnL>
                    <a:lnR w="9525" cap="flat" cmpd="sng" algn="ctr">
                      <a:solidFill>
                        <a:srgbClr val="D8E8E6"/>
                      </a:solidFill>
                      <a:prstDash val="solid"/>
                      <a:round/>
                      <a:headEnd type="none" w="med" len="med"/>
                      <a:tailEnd type="none" w="med" len="med"/>
                    </a:lnR>
                    <a:lnT w="9525" cap="flat" cmpd="sng" algn="ctr">
                      <a:solidFill>
                        <a:srgbClr val="D8E8E6"/>
                      </a:solidFill>
                      <a:prstDash val="solid"/>
                      <a:round/>
                      <a:headEnd type="none" w="med" len="med"/>
                      <a:tailEnd type="none" w="med" len="med"/>
                    </a:lnT>
                    <a:lnB w="9525" cap="flat" cmpd="sng" algn="ctr">
                      <a:solidFill>
                        <a:srgbClr val="D8E8E6"/>
                      </a:solidFill>
                      <a:prstDash val="solid"/>
                      <a:round/>
                      <a:headEnd type="none" w="med" len="med"/>
                      <a:tailEnd type="none" w="med" len="med"/>
                    </a:lnB>
                    <a:solidFill>
                      <a:srgbClr val="015958"/>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Test AUC</a:t>
                      </a:r>
                      <a:endParaRPr lang="en-US" sz="1300" dirty="0">
                        <a:latin typeface="Calibri" charset="0"/>
                        <a:ea typeface="Calibri" charset="0"/>
                        <a:cs typeface="Calibri" charset="0"/>
                      </a:endParaRPr>
                    </a:p>
                  </a:txBody>
                  <a:tcPr marL="91440" marR="91440" marT="45720" marB="45720" anchor="ctr">
                    <a:lnL w="9525" cap="flat" cmpd="sng" algn="ctr">
                      <a:solidFill>
                        <a:srgbClr val="D8E8E6"/>
                      </a:solidFill>
                      <a:prstDash val="solid"/>
                      <a:round/>
                      <a:headEnd type="none" w="med" len="med"/>
                      <a:tailEnd type="none" w="med" len="med"/>
                    </a:lnL>
                    <a:lnR w="9525" cap="flat" cmpd="sng" algn="ctr">
                      <a:solidFill>
                        <a:srgbClr val="D8E8E6"/>
                      </a:solidFill>
                      <a:prstDash val="solid"/>
                      <a:round/>
                      <a:headEnd type="none" w="med" len="med"/>
                      <a:tailEnd type="none" w="med" len="med"/>
                    </a:lnR>
                    <a:lnT w="9525" cap="flat" cmpd="sng" algn="ctr">
                      <a:solidFill>
                        <a:srgbClr val="D8E8E6"/>
                      </a:solidFill>
                      <a:prstDash val="solid"/>
                      <a:round/>
                      <a:headEnd type="none" w="med" len="med"/>
                      <a:tailEnd type="none" w="med" len="med"/>
                    </a:lnT>
                    <a:lnB w="9525" cap="flat" cmpd="sng" algn="ctr">
                      <a:solidFill>
                        <a:srgbClr val="D8E8E6"/>
                      </a:solidFill>
                      <a:prstDash val="solid"/>
                      <a:round/>
                      <a:headEnd type="none" w="med" len="med"/>
                      <a:tailEnd type="none" w="med" len="med"/>
                    </a:lnB>
                    <a:solidFill>
                      <a:srgbClr val="015958"/>
                    </a:solidFill>
                  </a:tcPr>
                </a:tc>
              </a:tr>
              <a:tr h="457200">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Logistic Regression</a:t>
                      </a:r>
                      <a:endParaRPr lang="en-US" sz="1300" dirty="0">
                        <a:latin typeface="Calibri" charset="0"/>
                        <a:ea typeface="Calibri" charset="0"/>
                        <a:cs typeface="Calibri" charset="0"/>
                      </a:endParaRPr>
                    </a:p>
                  </a:txBody>
                  <a:tcPr marL="91440" marR="91440" marT="45720" marB="45720" anchor="ctr">
                    <a:lnL w="9525" cap="flat" cmpd="sng" algn="ctr">
                      <a:solidFill>
                        <a:srgbClr val="D8E8E6"/>
                      </a:solidFill>
                      <a:prstDash val="solid"/>
                      <a:round/>
                      <a:headEnd type="none" w="med" len="med"/>
                      <a:tailEnd type="none" w="med" len="med"/>
                    </a:lnL>
                    <a:lnR w="9525" cap="flat" cmpd="sng" algn="ctr">
                      <a:solidFill>
                        <a:srgbClr val="D8E8E6"/>
                      </a:solidFill>
                      <a:prstDash val="solid"/>
                      <a:round/>
                      <a:headEnd type="none" w="med" len="med"/>
                      <a:tailEnd type="none" w="med" len="med"/>
                    </a:lnR>
                    <a:lnT w="9525" cap="flat" cmpd="sng" algn="ctr">
                      <a:solidFill>
                        <a:srgbClr val="D8E8E6"/>
                      </a:solidFill>
                      <a:prstDash val="solid"/>
                      <a:round/>
                      <a:headEnd type="none" w="med" len="med"/>
                      <a:tailEnd type="none" w="med" len="med"/>
                    </a:lnT>
                    <a:lnB w="9525" cap="flat" cmpd="sng" algn="ctr">
                      <a:solidFill>
                        <a:srgbClr val="D8E8E6"/>
                      </a:solidFill>
                      <a:prstDash val="solid"/>
                      <a:round/>
                      <a:headEnd type="none" w="med" len="med"/>
                      <a:tailEnd type="none" w="med" len="med"/>
                    </a:lnB>
                  </a:tcPr>
                </a:tc>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0.7425</a:t>
                      </a:r>
                      <a:endParaRPr lang="en-US" sz="1300" dirty="0">
                        <a:latin typeface="Calibri" charset="0"/>
                        <a:ea typeface="Calibri" charset="0"/>
                        <a:cs typeface="Calibri" charset="0"/>
                      </a:endParaRPr>
                    </a:p>
                  </a:txBody>
                  <a:tcPr marL="91440" marR="91440" marT="45720" marB="45720" anchor="ctr">
                    <a:lnL w="9525" cap="flat" cmpd="sng" algn="ctr">
                      <a:solidFill>
                        <a:srgbClr val="D8E8E6"/>
                      </a:solidFill>
                      <a:prstDash val="solid"/>
                      <a:round/>
                      <a:headEnd type="none" w="med" len="med"/>
                      <a:tailEnd type="none" w="med" len="med"/>
                    </a:lnL>
                    <a:lnR w="9525" cap="flat" cmpd="sng" algn="ctr">
                      <a:solidFill>
                        <a:srgbClr val="D8E8E6"/>
                      </a:solidFill>
                      <a:prstDash val="solid"/>
                      <a:round/>
                      <a:headEnd type="none" w="med" len="med"/>
                      <a:tailEnd type="none" w="med" len="med"/>
                    </a:lnR>
                    <a:lnT w="9525" cap="flat" cmpd="sng" algn="ctr">
                      <a:solidFill>
                        <a:srgbClr val="D8E8E6"/>
                      </a:solidFill>
                      <a:prstDash val="solid"/>
                      <a:round/>
                      <a:headEnd type="none" w="med" len="med"/>
                      <a:tailEnd type="none" w="med" len="med"/>
                    </a:lnT>
                    <a:lnB w="9525" cap="flat" cmpd="sng" algn="ctr">
                      <a:solidFill>
                        <a:srgbClr val="D8E8E6"/>
                      </a:solidFill>
                      <a:prstDash val="solid"/>
                      <a:round/>
                      <a:headEnd type="none" w="med" len="med"/>
                      <a:tailEnd type="none" w="med" len="med"/>
                    </a:lnB>
                  </a:tcPr>
                </a:tc>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0.6838</a:t>
                      </a:r>
                      <a:endParaRPr lang="en-US" sz="1300" dirty="0">
                        <a:latin typeface="Calibri" charset="0"/>
                        <a:ea typeface="Calibri" charset="0"/>
                        <a:cs typeface="Calibri" charset="0"/>
                      </a:endParaRPr>
                    </a:p>
                  </a:txBody>
                  <a:tcPr marL="91440" marR="91440" marT="45720" marB="45720" anchor="ctr">
                    <a:lnL w="9525" cap="flat" cmpd="sng" algn="ctr">
                      <a:solidFill>
                        <a:srgbClr val="D8E8E6"/>
                      </a:solidFill>
                      <a:prstDash val="solid"/>
                      <a:round/>
                      <a:headEnd type="none" w="med" len="med"/>
                      <a:tailEnd type="none" w="med" len="med"/>
                    </a:lnL>
                    <a:lnR w="9525" cap="flat" cmpd="sng" algn="ctr">
                      <a:solidFill>
                        <a:srgbClr val="D8E8E6"/>
                      </a:solidFill>
                      <a:prstDash val="solid"/>
                      <a:round/>
                      <a:headEnd type="none" w="med" len="med"/>
                      <a:tailEnd type="none" w="med" len="med"/>
                    </a:lnR>
                    <a:lnT w="9525" cap="flat" cmpd="sng" algn="ctr">
                      <a:solidFill>
                        <a:srgbClr val="D8E8E6"/>
                      </a:solidFill>
                      <a:prstDash val="solid"/>
                      <a:round/>
                      <a:headEnd type="none" w="med" len="med"/>
                      <a:tailEnd type="none" w="med" len="med"/>
                    </a:lnT>
                    <a:lnB w="9525" cap="flat" cmpd="sng" algn="ctr">
                      <a:solidFill>
                        <a:srgbClr val="D8E8E6"/>
                      </a:solidFill>
                      <a:prstDash val="solid"/>
                      <a:round/>
                      <a:headEnd type="none" w="med" len="med"/>
                      <a:tailEnd type="none" w="med" len="med"/>
                    </a:lnB>
                  </a:tcPr>
                </a:tc>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0.6959</a:t>
                      </a:r>
                      <a:endParaRPr lang="en-US" sz="1300" dirty="0">
                        <a:latin typeface="Calibri" charset="0"/>
                        <a:ea typeface="Calibri" charset="0"/>
                        <a:cs typeface="Calibri" charset="0"/>
                      </a:endParaRPr>
                    </a:p>
                  </a:txBody>
                  <a:tcPr marL="91440" marR="91440" marT="45720" marB="45720" anchor="ctr">
                    <a:lnL w="9525" cap="flat" cmpd="sng" algn="ctr">
                      <a:solidFill>
                        <a:srgbClr val="D8E8E6"/>
                      </a:solidFill>
                      <a:prstDash val="solid"/>
                      <a:round/>
                      <a:headEnd type="none" w="med" len="med"/>
                      <a:tailEnd type="none" w="med" len="med"/>
                    </a:lnL>
                    <a:lnR w="9525" cap="flat" cmpd="sng" algn="ctr">
                      <a:solidFill>
                        <a:srgbClr val="D8E8E6"/>
                      </a:solidFill>
                      <a:prstDash val="solid"/>
                      <a:round/>
                      <a:headEnd type="none" w="med" len="med"/>
                      <a:tailEnd type="none" w="med" len="med"/>
                    </a:lnR>
                    <a:lnT w="9525" cap="flat" cmpd="sng" algn="ctr">
                      <a:solidFill>
                        <a:srgbClr val="D8E8E6"/>
                      </a:solidFill>
                      <a:prstDash val="solid"/>
                      <a:round/>
                      <a:headEnd type="none" w="med" len="med"/>
                      <a:tailEnd type="none" w="med" len="med"/>
                    </a:lnT>
                    <a:lnB w="9525" cap="flat" cmpd="sng" algn="ctr">
                      <a:solidFill>
                        <a:srgbClr val="D8E8E6"/>
                      </a:solidFill>
                      <a:prstDash val="solid"/>
                      <a:round/>
                      <a:headEnd type="none" w="med" len="med"/>
                      <a:tailEnd type="none" w="med" len="med"/>
                    </a:lnB>
                  </a:tcPr>
                </a:tc>
              </a:tr>
              <a:tr h="457200">
                <a:tc>
                  <a:txBody>
                    <a:bodyPr/>
                    <a:lstStyle/>
                    <a:p>
                      <a:pPr algn="ctr" indent="0" marL="0">
                        <a:buNone/>
                      </a:pPr>
                      <a:r>
                        <a:rPr lang="en-US" sz="1300" b="1" dirty="0">
                          <a:solidFill>
                            <a:srgbClr val="000000"/>
                          </a:solidFill>
                          <a:latin typeface="Calibri" pitchFamily="34" charset="0"/>
                          <a:ea typeface="Calibri" pitchFamily="34" charset="-122"/>
                          <a:cs typeface="Calibri" pitchFamily="34" charset="-120"/>
                        </a:rPr>
                        <a:t>Random Forest (selected)</a:t>
                      </a:r>
                      <a:endParaRPr lang="en-US" sz="1300" dirty="0">
                        <a:latin typeface="Calibri" charset="0"/>
                        <a:ea typeface="Calibri" charset="0"/>
                        <a:cs typeface="Calibri" charset="0"/>
                      </a:endParaRPr>
                    </a:p>
                  </a:txBody>
                  <a:tcPr marL="91440" marR="91440" marT="45720" marB="45720" anchor="ctr">
                    <a:lnL w="9525" cap="flat" cmpd="sng" algn="ctr">
                      <a:solidFill>
                        <a:srgbClr val="D8E8E6"/>
                      </a:solidFill>
                      <a:prstDash val="solid"/>
                      <a:round/>
                      <a:headEnd type="none" w="med" len="med"/>
                      <a:tailEnd type="none" w="med" len="med"/>
                    </a:lnL>
                    <a:lnR w="9525" cap="flat" cmpd="sng" algn="ctr">
                      <a:solidFill>
                        <a:srgbClr val="D8E8E6"/>
                      </a:solidFill>
                      <a:prstDash val="solid"/>
                      <a:round/>
                      <a:headEnd type="none" w="med" len="med"/>
                      <a:tailEnd type="none" w="med" len="med"/>
                    </a:lnR>
                    <a:lnT w="9525" cap="flat" cmpd="sng" algn="ctr">
                      <a:solidFill>
                        <a:srgbClr val="D8E8E6"/>
                      </a:solidFill>
                      <a:prstDash val="solid"/>
                      <a:round/>
                      <a:headEnd type="none" w="med" len="med"/>
                      <a:tailEnd type="none" w="med" len="med"/>
                    </a:lnT>
                    <a:lnB w="9525" cap="flat" cmpd="sng" algn="ctr">
                      <a:solidFill>
                        <a:srgbClr val="D8E8E6"/>
                      </a:solidFill>
                      <a:prstDash val="solid"/>
                      <a:round/>
                      <a:headEnd type="none" w="med" len="med"/>
                      <a:tailEnd type="none" w="med" len="med"/>
                    </a:lnB>
                    <a:solidFill>
                      <a:srgbClr val="F0F9F8"/>
                    </a:solidFill>
                  </a:tcPr>
                </a:tc>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0.7407</a:t>
                      </a:r>
                      <a:endParaRPr lang="en-US" sz="1300" dirty="0">
                        <a:latin typeface="Calibri" charset="0"/>
                        <a:ea typeface="Calibri" charset="0"/>
                        <a:cs typeface="Calibri" charset="0"/>
                      </a:endParaRPr>
                    </a:p>
                  </a:txBody>
                  <a:tcPr marL="91440" marR="91440" marT="45720" marB="45720" anchor="ctr">
                    <a:lnL w="9525" cap="flat" cmpd="sng" algn="ctr">
                      <a:solidFill>
                        <a:srgbClr val="D8E8E6"/>
                      </a:solidFill>
                      <a:prstDash val="solid"/>
                      <a:round/>
                      <a:headEnd type="none" w="med" len="med"/>
                      <a:tailEnd type="none" w="med" len="med"/>
                    </a:lnL>
                    <a:lnR w="9525" cap="flat" cmpd="sng" algn="ctr">
                      <a:solidFill>
                        <a:srgbClr val="D8E8E6"/>
                      </a:solidFill>
                      <a:prstDash val="solid"/>
                      <a:round/>
                      <a:headEnd type="none" w="med" len="med"/>
                      <a:tailEnd type="none" w="med" len="med"/>
                    </a:lnR>
                    <a:lnT w="9525" cap="flat" cmpd="sng" algn="ctr">
                      <a:solidFill>
                        <a:srgbClr val="D8E8E6"/>
                      </a:solidFill>
                      <a:prstDash val="solid"/>
                      <a:round/>
                      <a:headEnd type="none" w="med" len="med"/>
                      <a:tailEnd type="none" w="med" len="med"/>
                    </a:lnT>
                    <a:lnB w="9525" cap="flat" cmpd="sng" algn="ctr">
                      <a:solidFill>
                        <a:srgbClr val="D8E8E6"/>
                      </a:solidFill>
                      <a:prstDash val="solid"/>
                      <a:round/>
                      <a:headEnd type="none" w="med" len="med"/>
                      <a:tailEnd type="none" w="med" len="med"/>
                    </a:lnB>
                    <a:solidFill>
                      <a:srgbClr val="F0F9F8"/>
                    </a:solidFill>
                  </a:tcPr>
                </a:tc>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0.6923</a:t>
                      </a:r>
                      <a:endParaRPr lang="en-US" sz="1300" dirty="0">
                        <a:latin typeface="Calibri" charset="0"/>
                        <a:ea typeface="Calibri" charset="0"/>
                        <a:cs typeface="Calibri" charset="0"/>
                      </a:endParaRPr>
                    </a:p>
                  </a:txBody>
                  <a:tcPr marL="91440" marR="91440" marT="45720" marB="45720" anchor="ctr">
                    <a:lnL w="9525" cap="flat" cmpd="sng" algn="ctr">
                      <a:solidFill>
                        <a:srgbClr val="D8E8E6"/>
                      </a:solidFill>
                      <a:prstDash val="solid"/>
                      <a:round/>
                      <a:headEnd type="none" w="med" len="med"/>
                      <a:tailEnd type="none" w="med" len="med"/>
                    </a:lnL>
                    <a:lnR w="9525" cap="flat" cmpd="sng" algn="ctr">
                      <a:solidFill>
                        <a:srgbClr val="D8E8E6"/>
                      </a:solidFill>
                      <a:prstDash val="solid"/>
                      <a:round/>
                      <a:headEnd type="none" w="med" len="med"/>
                      <a:tailEnd type="none" w="med" len="med"/>
                    </a:lnR>
                    <a:lnT w="9525" cap="flat" cmpd="sng" algn="ctr">
                      <a:solidFill>
                        <a:srgbClr val="D8E8E6"/>
                      </a:solidFill>
                      <a:prstDash val="solid"/>
                      <a:round/>
                      <a:headEnd type="none" w="med" len="med"/>
                      <a:tailEnd type="none" w="med" len="med"/>
                    </a:lnT>
                    <a:lnB w="9525" cap="flat" cmpd="sng" algn="ctr">
                      <a:solidFill>
                        <a:srgbClr val="D8E8E6"/>
                      </a:solidFill>
                      <a:prstDash val="solid"/>
                      <a:round/>
                      <a:headEnd type="none" w="med" len="med"/>
                      <a:tailEnd type="none" w="med" len="med"/>
                    </a:lnB>
                    <a:solidFill>
                      <a:srgbClr val="F0F9F8"/>
                    </a:solidFill>
                  </a:tcPr>
                </a:tc>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0.7046</a:t>
                      </a:r>
                      <a:endParaRPr lang="en-US" sz="1300" dirty="0">
                        <a:latin typeface="Calibri" charset="0"/>
                        <a:ea typeface="Calibri" charset="0"/>
                        <a:cs typeface="Calibri" charset="0"/>
                      </a:endParaRPr>
                    </a:p>
                  </a:txBody>
                  <a:tcPr marL="91440" marR="91440" marT="45720" marB="45720" anchor="ctr">
                    <a:lnL w="9525" cap="flat" cmpd="sng" algn="ctr">
                      <a:solidFill>
                        <a:srgbClr val="D8E8E6"/>
                      </a:solidFill>
                      <a:prstDash val="solid"/>
                      <a:round/>
                      <a:headEnd type="none" w="med" len="med"/>
                      <a:tailEnd type="none" w="med" len="med"/>
                    </a:lnL>
                    <a:lnR w="9525" cap="flat" cmpd="sng" algn="ctr">
                      <a:solidFill>
                        <a:srgbClr val="D8E8E6"/>
                      </a:solidFill>
                      <a:prstDash val="solid"/>
                      <a:round/>
                      <a:headEnd type="none" w="med" len="med"/>
                      <a:tailEnd type="none" w="med" len="med"/>
                    </a:lnR>
                    <a:lnT w="9525" cap="flat" cmpd="sng" algn="ctr">
                      <a:solidFill>
                        <a:srgbClr val="D8E8E6"/>
                      </a:solidFill>
                      <a:prstDash val="solid"/>
                      <a:round/>
                      <a:headEnd type="none" w="med" len="med"/>
                      <a:tailEnd type="none" w="med" len="med"/>
                    </a:lnT>
                    <a:lnB w="9525" cap="flat" cmpd="sng" algn="ctr">
                      <a:solidFill>
                        <a:srgbClr val="D8E8E6"/>
                      </a:solidFill>
                      <a:prstDash val="solid"/>
                      <a:round/>
                      <a:headEnd type="none" w="med" len="med"/>
                      <a:tailEnd type="none" w="med" len="med"/>
                    </a:lnB>
                    <a:solidFill>
                      <a:srgbClr val="F0F9F8"/>
                    </a:solidFill>
                  </a:tcPr>
                </a:tc>
              </a:tr>
              <a:tr h="457200">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XGBoost</a:t>
                      </a:r>
                      <a:endParaRPr lang="en-US" sz="1300" dirty="0">
                        <a:latin typeface="Calibri" charset="0"/>
                        <a:ea typeface="Calibri" charset="0"/>
                        <a:cs typeface="Calibri" charset="0"/>
                      </a:endParaRPr>
                    </a:p>
                  </a:txBody>
                  <a:tcPr marL="91440" marR="91440" marT="45720" marB="45720" anchor="ctr">
                    <a:lnL w="9525" cap="flat" cmpd="sng" algn="ctr">
                      <a:solidFill>
                        <a:srgbClr val="D8E8E6"/>
                      </a:solidFill>
                      <a:prstDash val="solid"/>
                      <a:round/>
                      <a:headEnd type="none" w="med" len="med"/>
                      <a:tailEnd type="none" w="med" len="med"/>
                    </a:lnL>
                    <a:lnR w="9525" cap="flat" cmpd="sng" algn="ctr">
                      <a:solidFill>
                        <a:srgbClr val="D8E8E6"/>
                      </a:solidFill>
                      <a:prstDash val="solid"/>
                      <a:round/>
                      <a:headEnd type="none" w="med" len="med"/>
                      <a:tailEnd type="none" w="med" len="med"/>
                    </a:lnR>
                    <a:lnT w="9525" cap="flat" cmpd="sng" algn="ctr">
                      <a:solidFill>
                        <a:srgbClr val="D8E8E6"/>
                      </a:solidFill>
                      <a:prstDash val="solid"/>
                      <a:round/>
                      <a:headEnd type="none" w="med" len="med"/>
                      <a:tailEnd type="none" w="med" len="med"/>
                    </a:lnT>
                    <a:lnB w="9525" cap="flat" cmpd="sng" algn="ctr">
                      <a:solidFill>
                        <a:srgbClr val="D8E8E6"/>
                      </a:solidFill>
                      <a:prstDash val="solid"/>
                      <a:round/>
                      <a:headEnd type="none" w="med" len="med"/>
                      <a:tailEnd type="none" w="med" len="med"/>
                    </a:lnB>
                  </a:tcPr>
                </a:tc>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0.7445</a:t>
                      </a:r>
                      <a:endParaRPr lang="en-US" sz="1300" dirty="0">
                        <a:latin typeface="Calibri" charset="0"/>
                        <a:ea typeface="Calibri" charset="0"/>
                        <a:cs typeface="Calibri" charset="0"/>
                      </a:endParaRPr>
                    </a:p>
                  </a:txBody>
                  <a:tcPr marL="91440" marR="91440" marT="45720" marB="45720" anchor="ctr">
                    <a:lnL w="9525" cap="flat" cmpd="sng" algn="ctr">
                      <a:solidFill>
                        <a:srgbClr val="D8E8E6"/>
                      </a:solidFill>
                      <a:prstDash val="solid"/>
                      <a:round/>
                      <a:headEnd type="none" w="med" len="med"/>
                      <a:tailEnd type="none" w="med" len="med"/>
                    </a:lnL>
                    <a:lnR w="9525" cap="flat" cmpd="sng" algn="ctr">
                      <a:solidFill>
                        <a:srgbClr val="D8E8E6"/>
                      </a:solidFill>
                      <a:prstDash val="solid"/>
                      <a:round/>
                      <a:headEnd type="none" w="med" len="med"/>
                      <a:tailEnd type="none" w="med" len="med"/>
                    </a:lnR>
                    <a:lnT w="9525" cap="flat" cmpd="sng" algn="ctr">
                      <a:solidFill>
                        <a:srgbClr val="D8E8E6"/>
                      </a:solidFill>
                      <a:prstDash val="solid"/>
                      <a:round/>
                      <a:headEnd type="none" w="med" len="med"/>
                      <a:tailEnd type="none" w="med" len="med"/>
                    </a:lnT>
                    <a:lnB w="9525" cap="flat" cmpd="sng" algn="ctr">
                      <a:solidFill>
                        <a:srgbClr val="D8E8E6"/>
                      </a:solidFill>
                      <a:prstDash val="solid"/>
                      <a:round/>
                      <a:headEnd type="none" w="med" len="med"/>
                      <a:tailEnd type="none" w="med" len="med"/>
                    </a:lnB>
                  </a:tcPr>
                </a:tc>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0.6902</a:t>
                      </a:r>
                      <a:endParaRPr lang="en-US" sz="1300" dirty="0">
                        <a:latin typeface="Calibri" charset="0"/>
                        <a:ea typeface="Calibri" charset="0"/>
                        <a:cs typeface="Calibri" charset="0"/>
                      </a:endParaRPr>
                    </a:p>
                  </a:txBody>
                  <a:tcPr marL="91440" marR="91440" marT="45720" marB="45720" anchor="ctr">
                    <a:lnL w="9525" cap="flat" cmpd="sng" algn="ctr">
                      <a:solidFill>
                        <a:srgbClr val="D8E8E6"/>
                      </a:solidFill>
                      <a:prstDash val="solid"/>
                      <a:round/>
                      <a:headEnd type="none" w="med" len="med"/>
                      <a:tailEnd type="none" w="med" len="med"/>
                    </a:lnL>
                    <a:lnR w="9525" cap="flat" cmpd="sng" algn="ctr">
                      <a:solidFill>
                        <a:srgbClr val="D8E8E6"/>
                      </a:solidFill>
                      <a:prstDash val="solid"/>
                      <a:round/>
                      <a:headEnd type="none" w="med" len="med"/>
                      <a:tailEnd type="none" w="med" len="med"/>
                    </a:lnR>
                    <a:lnT w="9525" cap="flat" cmpd="sng" algn="ctr">
                      <a:solidFill>
                        <a:srgbClr val="D8E8E6"/>
                      </a:solidFill>
                      <a:prstDash val="solid"/>
                      <a:round/>
                      <a:headEnd type="none" w="med" len="med"/>
                      <a:tailEnd type="none" w="med" len="med"/>
                    </a:lnT>
                    <a:lnB w="9525" cap="flat" cmpd="sng" algn="ctr">
                      <a:solidFill>
                        <a:srgbClr val="D8E8E6"/>
                      </a:solidFill>
                      <a:prstDash val="solid"/>
                      <a:round/>
                      <a:headEnd type="none" w="med" len="med"/>
                      <a:tailEnd type="none" w="med" len="med"/>
                    </a:lnB>
                  </a:tcPr>
                </a:tc>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0.7016</a:t>
                      </a:r>
                      <a:endParaRPr lang="en-US" sz="1300" dirty="0">
                        <a:latin typeface="Calibri" charset="0"/>
                        <a:ea typeface="Calibri" charset="0"/>
                        <a:cs typeface="Calibri" charset="0"/>
                      </a:endParaRPr>
                    </a:p>
                  </a:txBody>
                  <a:tcPr marL="91440" marR="91440" marT="45720" marB="45720" anchor="ctr">
                    <a:lnL w="9525" cap="flat" cmpd="sng" algn="ctr">
                      <a:solidFill>
                        <a:srgbClr val="D8E8E6"/>
                      </a:solidFill>
                      <a:prstDash val="solid"/>
                      <a:round/>
                      <a:headEnd type="none" w="med" len="med"/>
                      <a:tailEnd type="none" w="med" len="med"/>
                    </a:lnL>
                    <a:lnR w="9525" cap="flat" cmpd="sng" algn="ctr">
                      <a:solidFill>
                        <a:srgbClr val="D8E8E6"/>
                      </a:solidFill>
                      <a:prstDash val="solid"/>
                      <a:round/>
                      <a:headEnd type="none" w="med" len="med"/>
                      <a:tailEnd type="none" w="med" len="med"/>
                    </a:lnR>
                    <a:lnT w="9525" cap="flat" cmpd="sng" algn="ctr">
                      <a:solidFill>
                        <a:srgbClr val="D8E8E6"/>
                      </a:solidFill>
                      <a:prstDash val="solid"/>
                      <a:round/>
                      <a:headEnd type="none" w="med" len="med"/>
                      <a:tailEnd type="none" w="med" len="med"/>
                    </a:lnT>
                    <a:lnB w="9525" cap="flat" cmpd="sng" algn="ctr">
                      <a:solidFill>
                        <a:srgbClr val="D8E8E6"/>
                      </a:solidFill>
                      <a:prstDash val="solid"/>
                      <a:round/>
                      <a:headEnd type="none" w="med" len="med"/>
                      <a:tailEnd type="none" w="med" len="med"/>
                    </a:lnB>
                  </a:tcPr>
                </a:tc>
              </a:tr>
            </a:tbl>
          </a:graphicData>
        </a:graphic>
      </p:graphicFrame>
      <p:sp>
        <p:nvSpPr>
          <p:cNvPr id="5" name="Text 2"/>
          <p:cNvSpPr/>
          <p:nvPr/>
        </p:nvSpPr>
        <p:spPr>
          <a:xfrm>
            <a:off x="548640" y="3520440"/>
            <a:ext cx="7498080" cy="822960"/>
          </a:xfrm>
          <a:prstGeom prst="rect">
            <a:avLst/>
          </a:prstGeom>
          <a:noFill/>
          <a:ln/>
        </p:spPr>
        <p:txBody>
          <a:bodyPr wrap="square" lIns="0" tIns="0" rIns="0" bIns="0" rtlCol="0" anchor="t"/>
          <a:lstStyle/>
          <a:p>
            <a:pPr indent="0" marL="0">
              <a:buNone/>
            </a:pPr>
            <a:r>
              <a:rPr lang="en-US" sz="1200" dirty="0">
                <a:solidFill>
                  <a:srgbClr val="0B2B2A"/>
                </a:solidFill>
                <a:latin typeface="Calibri" pitchFamily="34" charset="0"/>
                <a:ea typeface="Calibri" pitchFamily="34" charset="-122"/>
                <a:cs typeface="Calibri" pitchFamily="34" charset="-120"/>
              </a:rPr>
              <a:t>All three tuned models land within ~1-2 points of each other, the predictive ceiling is set by the available features, not by model choice. Random Forest was kept as the primary model since it edges out on test AUC and integrates directly with SHAP.</a:t>
            </a:r>
            <a:endParaRPr lang="en-US" sz="1200" dirty="0"/>
          </a:p>
        </p:txBody>
      </p:sp>
      <p:sp>
        <p:nvSpPr>
          <p:cNvPr id="6" name="Shape 3"/>
          <p:cNvSpPr/>
          <p:nvPr/>
        </p:nvSpPr>
        <p:spPr>
          <a:xfrm>
            <a:off x="548640" y="4526280"/>
            <a:ext cx="7498080" cy="1645920"/>
          </a:xfrm>
          <a:prstGeom prst="roundRect">
            <a:avLst>
              <a:gd name="adj" fmla="val 5556"/>
            </a:avLst>
          </a:prstGeom>
          <a:solidFill>
            <a:srgbClr val="F0F9F8"/>
          </a:solidFill>
          <a:ln/>
        </p:spPr>
      </p:sp>
      <p:sp>
        <p:nvSpPr>
          <p:cNvPr id="7" name="Text 4"/>
          <p:cNvSpPr/>
          <p:nvPr/>
        </p:nvSpPr>
        <p:spPr>
          <a:xfrm>
            <a:off x="777240" y="4709160"/>
            <a:ext cx="7040880" cy="274320"/>
          </a:xfrm>
          <a:prstGeom prst="rect">
            <a:avLst/>
          </a:prstGeom>
          <a:noFill/>
          <a:ln/>
        </p:spPr>
        <p:txBody>
          <a:bodyPr wrap="square" lIns="0" tIns="0" rIns="0" bIns="0" rtlCol="0" anchor="ctr"/>
          <a:lstStyle/>
          <a:p>
            <a:pPr indent="0" marL="0">
              <a:buNone/>
            </a:pPr>
            <a:r>
              <a:rPr lang="en-US" sz="1200" b="1" spc="100" kern="0" dirty="0">
                <a:solidFill>
                  <a:srgbClr val="015958"/>
                </a:solidFill>
                <a:latin typeface="Calibri" pitchFamily="34" charset="0"/>
                <a:ea typeface="Calibri" pitchFamily="34" charset="-122"/>
                <a:cs typeface="Calibri" pitchFamily="34" charset="-120"/>
              </a:rPr>
              <a:t>ROBUSTNESS CHECKS PASSED</a:t>
            </a:r>
            <a:endParaRPr lang="en-US" sz="1200" dirty="0"/>
          </a:p>
        </p:txBody>
      </p:sp>
      <p:sp>
        <p:nvSpPr>
          <p:cNvPr id="8" name="Text 5"/>
          <p:cNvSpPr/>
          <p:nvPr/>
        </p:nvSpPr>
        <p:spPr>
          <a:xfrm>
            <a:off x="777240" y="5029200"/>
            <a:ext cx="7040880" cy="1097280"/>
          </a:xfrm>
          <a:prstGeom prst="rect">
            <a:avLst/>
          </a:prstGeom>
          <a:noFill/>
          <a:ln/>
        </p:spPr>
        <p:txBody>
          <a:bodyPr wrap="square" lIns="0" tIns="0" rIns="0" bIns="0" rtlCol="0" anchor="t"/>
          <a:lstStyle/>
          <a:p>
            <a:pPr marL="342900" indent="-342900">
              <a:buSzPct val="100000"/>
              <a:buChar char="•"/>
            </a:pPr>
            <a:r>
              <a:rPr lang="en-US" sz="1100" dirty="0">
                <a:solidFill>
                  <a:srgbClr val="0B2B2A"/>
                </a:solidFill>
                <a:latin typeface="Calibri" pitchFamily="34" charset="0"/>
                <a:ea typeface="Calibri" pitchFamily="34" charset="-122"/>
                <a:cs typeface="Calibri" pitchFamily="34" charset="-120"/>
              </a:rPr>
              <a:t>5-fold cross-validation confirms results are not a single-split fluke</a:t>
            </a:r>
            <a:endParaRPr lang="en-US" sz="1100" dirty="0"/>
          </a:p>
          <a:p>
            <a:pPr marL="342900" indent="-342900">
              <a:buSzPct val="100000"/>
              <a:buChar char="•"/>
            </a:pPr>
            <a:r>
              <a:rPr lang="en-US" sz="1100" dirty="0">
                <a:solidFill>
                  <a:srgbClr val="0B2B2A"/>
                </a:solidFill>
                <a:latin typeface="Calibri" pitchFamily="34" charset="0"/>
                <a:ea typeface="Calibri" pitchFamily="34" charset="-122"/>
                <a:cs typeface="Calibri" pitchFamily="34" charset="-120"/>
              </a:rPr>
              <a:t>Threshold sensitivity tested at 30 / 60 / 90 days to justify the churn definition</a:t>
            </a:r>
            <a:endParaRPr lang="en-US" sz="1100" dirty="0"/>
          </a:p>
          <a:p>
            <a:pPr marL="342900" indent="-342900">
              <a:buSzPct val="100000"/>
              <a:buChar char="•"/>
            </a:pPr>
            <a:r>
              <a:rPr lang="en-US" sz="1100" dirty="0">
                <a:solidFill>
                  <a:srgbClr val="0B2B2A"/>
                </a:solidFill>
                <a:latin typeface="Calibri" pitchFamily="34" charset="0"/>
                <a:ea typeface="Calibri" pitchFamily="34" charset="-122"/>
                <a:cs typeface="Calibri" pitchFamily="34" charset="-120"/>
              </a:rPr>
              <a:t>5 different random seeds confirm stable performance (± ~2% accuracy, ± ~1% AUC)</a:t>
            </a:r>
            <a:endParaRPr lang="en-US" sz="1100" dirty="0"/>
          </a:p>
          <a:p>
            <a:pPr marL="342900" indent="-342900">
              <a:buSzPct val="100000"/>
              <a:buChar char="•"/>
            </a:pPr>
            <a:r>
              <a:rPr lang="en-US" sz="1100" dirty="0">
                <a:solidFill>
                  <a:srgbClr val="0B2B2A"/>
                </a:solidFill>
                <a:latin typeface="Calibri" pitchFamily="34" charset="0"/>
                <a:ea typeface="Calibri" pitchFamily="34" charset="-122"/>
                <a:cs typeface="Calibri" pitchFamily="34" charset="-120"/>
              </a:rPr>
              <a:t>Feature engineering (behavioral ratios) added ~4 points of accuracy over raw features</a:t>
            </a:r>
            <a:endParaRPr lang="en-US" sz="1100" dirty="0"/>
          </a:p>
        </p:txBody>
      </p:sp>
      <p:sp>
        <p:nvSpPr>
          <p:cNvPr id="9" name="Shape 6"/>
          <p:cNvSpPr/>
          <p:nvPr/>
        </p:nvSpPr>
        <p:spPr>
          <a:xfrm>
            <a:off x="8732520" y="1463040"/>
            <a:ext cx="2926080" cy="4709160"/>
          </a:xfrm>
          <a:prstGeom prst="roundRect">
            <a:avLst>
              <a:gd name="adj" fmla="val 3750"/>
            </a:avLst>
          </a:prstGeom>
          <a:solidFill>
            <a:srgbClr val="015958"/>
          </a:solidFill>
          <a:ln/>
        </p:spPr>
      </p:sp>
      <p:sp>
        <p:nvSpPr>
          <p:cNvPr id="10" name="Text 7"/>
          <p:cNvSpPr/>
          <p:nvPr/>
        </p:nvSpPr>
        <p:spPr>
          <a:xfrm>
            <a:off x="8961120" y="1737360"/>
            <a:ext cx="2468880" cy="274320"/>
          </a:xfrm>
          <a:prstGeom prst="rect">
            <a:avLst/>
          </a:prstGeom>
          <a:noFill/>
          <a:ln/>
        </p:spPr>
        <p:txBody>
          <a:bodyPr wrap="square" lIns="0" tIns="0" rIns="0" bIns="0" rtlCol="0" anchor="ctr"/>
          <a:lstStyle/>
          <a:p>
            <a:pPr indent="0" marL="0">
              <a:buNone/>
            </a:pPr>
            <a:r>
              <a:rPr lang="en-US" sz="1100" b="1" spc="150" kern="0" dirty="0">
                <a:solidFill>
                  <a:srgbClr val="AEE6E1"/>
                </a:solidFill>
                <a:latin typeface="Calibri" pitchFamily="34" charset="0"/>
                <a:ea typeface="Calibri" pitchFamily="34" charset="-122"/>
                <a:cs typeface="Calibri" pitchFamily="34" charset="-120"/>
              </a:rPr>
              <a:t>BOTTOM LINE</a:t>
            </a:r>
            <a:endParaRPr lang="en-US" sz="1100" dirty="0"/>
          </a:p>
        </p:txBody>
      </p:sp>
      <p:sp>
        <p:nvSpPr>
          <p:cNvPr id="11" name="Text 8"/>
          <p:cNvSpPr/>
          <p:nvPr/>
        </p:nvSpPr>
        <p:spPr>
          <a:xfrm>
            <a:off x="8961120" y="2103120"/>
            <a:ext cx="2468880" cy="457200"/>
          </a:xfrm>
          <a:prstGeom prst="rect">
            <a:avLst/>
          </a:prstGeom>
          <a:noFill/>
          <a:ln/>
        </p:spPr>
        <p:txBody>
          <a:bodyPr wrap="square" lIns="0" tIns="0" rIns="0" bIns="0" rtlCol="0" anchor="ctr"/>
          <a:lstStyle/>
          <a:p>
            <a:pPr indent="0" marL="0">
              <a:buNone/>
            </a:pPr>
            <a:r>
              <a:rPr lang="en-US" sz="1100" dirty="0">
                <a:solidFill>
                  <a:srgbClr val="CFE9E6"/>
                </a:solidFill>
                <a:latin typeface="Calibri" pitchFamily="34" charset="0"/>
                <a:ea typeface="Calibri" pitchFamily="34" charset="-122"/>
                <a:cs typeface="Calibri" pitchFamily="34" charset="-120"/>
              </a:rPr>
              <a:t>Improvement over untuned baseline:</a:t>
            </a:r>
            <a:endParaRPr lang="en-US" sz="1100" dirty="0"/>
          </a:p>
        </p:txBody>
      </p:sp>
      <p:sp>
        <p:nvSpPr>
          <p:cNvPr id="12" name="Text 9"/>
          <p:cNvSpPr/>
          <p:nvPr/>
        </p:nvSpPr>
        <p:spPr>
          <a:xfrm>
            <a:off x="8961120" y="2514600"/>
            <a:ext cx="2468880" cy="502920"/>
          </a:xfrm>
          <a:prstGeom prst="rect">
            <a:avLst/>
          </a:prstGeom>
          <a:noFill/>
          <a:ln/>
        </p:spPr>
        <p:txBody>
          <a:bodyPr wrap="square" lIns="0" tIns="0" rIns="0" bIns="0" rtlCol="0" anchor="ctr"/>
          <a:lstStyle/>
          <a:p>
            <a:pPr indent="0" marL="0">
              <a:buNone/>
            </a:pPr>
            <a:r>
              <a:rPr lang="en-US" sz="2600" b="1" dirty="0">
                <a:solidFill>
                  <a:srgbClr val="00A896"/>
                </a:solidFill>
                <a:latin typeface="Cambria" pitchFamily="34" charset="0"/>
                <a:ea typeface="Cambria" pitchFamily="34" charset="-122"/>
                <a:cs typeface="Cambria" pitchFamily="34" charset="-120"/>
              </a:rPr>
              <a:t>+5.1 pts</a:t>
            </a:r>
            <a:endParaRPr lang="en-US" sz="2600" dirty="0"/>
          </a:p>
        </p:txBody>
      </p:sp>
      <p:sp>
        <p:nvSpPr>
          <p:cNvPr id="13" name="Text 10"/>
          <p:cNvSpPr/>
          <p:nvPr/>
        </p:nvSpPr>
        <p:spPr>
          <a:xfrm>
            <a:off x="8961120" y="2971800"/>
            <a:ext cx="2468880" cy="365760"/>
          </a:xfrm>
          <a:prstGeom prst="rect">
            <a:avLst/>
          </a:prstGeom>
          <a:noFill/>
          <a:ln/>
        </p:spPr>
        <p:txBody>
          <a:bodyPr wrap="square" lIns="0" tIns="0" rIns="0" bIns="0" rtlCol="0" anchor="ctr"/>
          <a:lstStyle/>
          <a:p>
            <a:pPr indent="0" marL="0">
              <a:buNone/>
            </a:pPr>
            <a:r>
              <a:rPr lang="en-US" sz="1050" dirty="0">
                <a:solidFill>
                  <a:srgbClr val="CFE9E6"/>
                </a:solidFill>
                <a:latin typeface="Calibri" pitchFamily="34" charset="0"/>
                <a:ea typeface="Calibri" pitchFamily="34" charset="-122"/>
                <a:cs typeface="Calibri" pitchFamily="34" charset="-120"/>
              </a:rPr>
              <a:t>accuracy (64.1% → 69.2%)</a:t>
            </a:r>
            <a:endParaRPr lang="en-US" sz="1050" dirty="0"/>
          </a:p>
        </p:txBody>
      </p:sp>
      <p:sp>
        <p:nvSpPr>
          <p:cNvPr id="14" name="Text 11"/>
          <p:cNvSpPr/>
          <p:nvPr/>
        </p:nvSpPr>
        <p:spPr>
          <a:xfrm>
            <a:off x="8961120" y="3566160"/>
            <a:ext cx="2468880" cy="1188720"/>
          </a:xfrm>
          <a:prstGeom prst="rect">
            <a:avLst/>
          </a:prstGeom>
          <a:noFill/>
          <a:ln/>
        </p:spPr>
        <p:txBody>
          <a:bodyPr wrap="square" lIns="0" tIns="0" rIns="0" bIns="0" rtlCol="0" anchor="t"/>
          <a:lstStyle/>
          <a:p>
            <a:pPr indent="0" marL="0">
              <a:buNone/>
            </a:pPr>
            <a:r>
              <a:rPr lang="en-US" sz="1050" i="1" dirty="0">
                <a:solidFill>
                  <a:srgbClr val="CFE9E6"/>
                </a:solidFill>
                <a:latin typeface="Calibri" pitchFamily="34" charset="0"/>
                <a:ea typeface="Calibri" pitchFamily="34" charset="-122"/>
                <a:cs typeface="Calibri" pitchFamily="34" charset="-120"/>
              </a:rPr>
              <a:t>AUC held steady (0.703 → 0.705), indicating the model was already near the ceiling this feature set allows.</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Explainable AI-Powered EV Charging Churn Analytics Dashboard with Generative AI Insights</dc:title>
  <dc:subject>PptxGenJS Presentation</dc:subject>
  <dc:creator>Allen Trevor Franklin</dc:creator>
  <cp:lastModifiedBy>Allen Trevor Franklin</cp:lastModifiedBy>
  <cp:revision>1</cp:revision>
  <dcterms:created xsi:type="dcterms:W3CDTF">2026-07-08T23:45:18Z</dcterms:created>
  <dcterms:modified xsi:type="dcterms:W3CDTF">2026-07-08T23:45:18Z</dcterms:modified>
</cp:coreProperties>
</file>